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  <p:sldMasterId id="2147483703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Nunito Sans" pitchFamily="2" charset="0"/>
      <p:regular r:id="rId11"/>
      <p:bold r:id="rId12"/>
      <p:italic r:id="rId13"/>
      <p:boldItalic r:id="rId14"/>
    </p:embeddedFont>
    <p:embeddedFont>
      <p:font typeface="Nunito Sans SemiBold" pitchFamily="2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Medium" panose="000006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  <p:embeddedFont>
      <p:font typeface="Roboto Mono" panose="00000009000000000000" pitchFamily="49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715" autoAdjust="0"/>
  </p:normalViewPr>
  <p:slideViewPr>
    <p:cSldViewPr snapToGrid="0">
      <p:cViewPr>
        <p:scale>
          <a:sx n="130" d="100"/>
          <a:sy n="130" d="100"/>
        </p:scale>
        <p:origin x="2058" y="7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tuna/optuna-dashboard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92756c7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d92756c7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92756c737_0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92756c737_0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92756c737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92756c737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Grid: Better with Few Hyperparameters / Small Datasets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Worse: Large Datasets, deep learning, large / complex / continuous spaces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Better: More efficient with higher dimensional data then Grid, Searches spectrum of values instead of set values.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Practice: Start with Random Search to discover narrower parameter ranges, then switch to Grid Search.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92756c737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92756c737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d92756c737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d92756c737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92756c737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d92756c737_0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Optuna Dashboard: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https://github.com/optuna/optuna-dashboard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d92756c737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d92756c737_0_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blank">
  <p:cSld name="BLANK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t="53791" r="49303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rot="7601886">
            <a:off x="1184700" y="-2992710"/>
            <a:ext cx="11804607" cy="6869923"/>
          </a:xfrm>
          <a:custGeom>
            <a:avLst/>
            <a:gdLst/>
            <a:ahLst/>
            <a:cxnLst/>
            <a:rect l="l" t="t" r="r" b="b"/>
            <a:pathLst>
              <a:path w="33488" h="19489" extrusionOk="0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l="18884" b="67899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4453700" y="0"/>
            <a:ext cx="4698208" cy="5143488"/>
          </a:xfrm>
          <a:custGeom>
            <a:avLst/>
            <a:gdLst/>
            <a:ahLst/>
            <a:cxnLst/>
            <a:rect l="l" t="t" r="r" b="b"/>
            <a:pathLst>
              <a:path w="146819" h="160734" extrusionOk="0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l="55739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CUSTOM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marL="914400" lvl="1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marL="1371600" lvl="2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marL="1828800" lvl="3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marL="2286000" lvl="4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marL="2743200" lvl="5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marL="3200400" lvl="6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marL="3657600" lvl="7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marL="4114800" lvl="8" indent="-3302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BLANK_1_1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BLANK_1_1_1_1_2_3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-349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8" name="Google Shape;78;p17"/>
          <p:cNvSpPr>
            <a:spLocks noGrp="1"/>
          </p:cNvSpPr>
          <p:nvPr>
            <p:ph type="pic" idx="2"/>
          </p:nvPr>
        </p:nvSpPr>
        <p:spPr>
          <a:xfrm>
            <a:off x="1208525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9" name="Google Shape;79;p17"/>
          <p:cNvSpPr>
            <a:spLocks noGrp="1"/>
          </p:cNvSpPr>
          <p:nvPr>
            <p:ph type="pic" idx="3"/>
          </p:nvPr>
        </p:nvSpPr>
        <p:spPr>
          <a:xfrm>
            <a:off x="3079163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0" name="Google Shape;80;p17"/>
          <p:cNvSpPr>
            <a:spLocks noGrp="1"/>
          </p:cNvSpPr>
          <p:nvPr>
            <p:ph type="pic" idx="4"/>
          </p:nvPr>
        </p:nvSpPr>
        <p:spPr>
          <a:xfrm>
            <a:off x="4949788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1" name="Google Shape;81;p17"/>
          <p:cNvSpPr>
            <a:spLocks noGrp="1"/>
          </p:cNvSpPr>
          <p:nvPr>
            <p:ph type="pic" idx="5"/>
          </p:nvPr>
        </p:nvSpPr>
        <p:spPr>
          <a:xfrm>
            <a:off x="6820413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6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7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8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9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13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14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5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>
            <a:spLocks noGrp="1"/>
          </p:cNvSpPr>
          <p:nvPr>
            <p:ph type="pic" idx="16"/>
          </p:nvPr>
        </p:nvSpPr>
        <p:spPr>
          <a:xfrm>
            <a:off x="3079163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1" name="Google Shape;91;p17"/>
          <p:cNvSpPr>
            <a:spLocks noGrp="1"/>
          </p:cNvSpPr>
          <p:nvPr>
            <p:ph type="pic" idx="17"/>
          </p:nvPr>
        </p:nvSpPr>
        <p:spPr>
          <a:xfrm>
            <a:off x="4949788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2" name="Google Shape;92;p17"/>
          <p:cNvSpPr>
            <a:spLocks noGrp="1"/>
          </p:cNvSpPr>
          <p:nvPr>
            <p:ph type="pic" idx="18"/>
          </p:nvPr>
        </p:nvSpPr>
        <p:spPr>
          <a:xfrm>
            <a:off x="6820413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3" name="Google Shape;93;p17"/>
          <p:cNvSpPr txBox="1">
            <a:spLocks noGrp="1"/>
          </p:cNvSpPr>
          <p:nvPr>
            <p:ph type="subTitle" idx="19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>
            <a:spLocks noGrp="1"/>
          </p:cNvSpPr>
          <p:nvPr>
            <p:ph type="pic" idx="20"/>
          </p:nvPr>
        </p:nvSpPr>
        <p:spPr>
          <a:xfrm>
            <a:off x="1208550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5" name="Google Shape;95;p17"/>
          <p:cNvSpPr txBox="1">
            <a:spLocks noGrp="1"/>
          </p:cNvSpPr>
          <p:nvPr>
            <p:ph type="subTitle" idx="21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22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23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24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25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26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27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- Alt 1">
  <p:cSld name="BLANK_1_1_1_1_2_3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-349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9" name="Google Shape;109;p18"/>
          <p:cNvSpPr>
            <a:spLocks noGrp="1"/>
          </p:cNvSpPr>
          <p:nvPr>
            <p:ph type="pic" idx="3"/>
          </p:nvPr>
        </p:nvSpPr>
        <p:spPr>
          <a:xfrm>
            <a:off x="988450" y="2967538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110" name="Google Shape;110;p18"/>
          <p:cNvSpPr txBox="1">
            <a:spLocks noGrp="1"/>
          </p:cNvSpPr>
          <p:nvPr>
            <p:ph type="subTitle" idx="4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ubTitle" idx="5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6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>
            <a:spLocks noGrp="1"/>
          </p:cNvSpPr>
          <p:nvPr>
            <p:ph type="pic" idx="7"/>
          </p:nvPr>
        </p:nvSpPr>
        <p:spPr>
          <a:xfrm>
            <a:off x="4685500" y="1169975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114" name="Google Shape;114;p18"/>
          <p:cNvSpPr txBox="1">
            <a:spLocks noGrp="1"/>
          </p:cNvSpPr>
          <p:nvPr>
            <p:ph type="subTitle" idx="8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9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>
            <a:spLocks noGrp="1"/>
          </p:cNvSpPr>
          <p:nvPr>
            <p:ph type="pic" idx="13"/>
          </p:nvPr>
        </p:nvSpPr>
        <p:spPr>
          <a:xfrm>
            <a:off x="4685500" y="2967538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117" name="Google Shape;117;p18"/>
          <p:cNvSpPr txBox="1">
            <a:spLocks noGrp="1"/>
          </p:cNvSpPr>
          <p:nvPr>
            <p:ph type="subTitle" idx="14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15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6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120" name="Google Shape;120;p18"/>
          <p:cNvSpPr>
            <a:spLocks noGrp="1"/>
          </p:cNvSpPr>
          <p:nvPr>
            <p:ph type="pic" idx="17"/>
          </p:nvPr>
        </p:nvSpPr>
        <p:spPr>
          <a:xfrm>
            <a:off x="988450" y="1169975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121" name="Google Shape;121;p18"/>
          <p:cNvSpPr txBox="1">
            <a:spLocks noGrp="1"/>
          </p:cNvSpPr>
          <p:nvPr>
            <p:ph type="subTitle" idx="18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19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20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_2_2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7299656" y="0"/>
            <a:ext cx="1841902" cy="1572524"/>
          </a:xfrm>
          <a:custGeom>
            <a:avLst/>
            <a:gdLst/>
            <a:ahLst/>
            <a:cxnLst/>
            <a:rect l="l" t="t" r="r" b="b"/>
            <a:pathLst>
              <a:path w="65894" h="56257" extrusionOk="0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7">
  <p:cSld name="BLANK_1_1_1_1_2_1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3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statement">
  <p:cSld name="BLANK_1_1_1_1_1_2"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BLANK_1_1_1_1_1_1">
    <p:bg>
      <p:bgPr>
        <a:solidFill>
          <a:schemeClr val="accen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/>
          <p:cNvPicPr preferRelativeResize="0"/>
          <p:nvPr/>
        </p:nvPicPr>
        <p:blipFill rotWithShape="1">
          <a:blip r:embed="rId2">
            <a:alphaModFix/>
          </a:blip>
          <a:srcRect t="51307" r="54483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6724719" y="-48"/>
            <a:ext cx="2419360" cy="1864544"/>
          </a:xfrm>
          <a:custGeom>
            <a:avLst/>
            <a:gdLst/>
            <a:ahLst/>
            <a:cxnLst/>
            <a:rect l="l" t="t" r="r" b="b"/>
            <a:pathLst>
              <a:path w="75605" h="58267" extrusionOk="0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0" y="3692104"/>
            <a:ext cx="2339584" cy="1451392"/>
          </a:xfrm>
          <a:custGeom>
            <a:avLst/>
            <a:gdLst/>
            <a:ahLst/>
            <a:cxnLst/>
            <a:rect l="l" t="t" r="r" b="b"/>
            <a:pathLst>
              <a:path w="73112" h="45356" extrusionOk="0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BLANK_1_1_1_1_1_1_1_1_1_1_1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7" name="Google Shape;147;p23"/>
          <p:cNvSpPr txBox="1">
            <a:spLocks noGrp="1"/>
          </p:cNvSpPr>
          <p:nvPr>
            <p:ph type="subTitle" idx="1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ubTitle" idx="2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3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4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subTitle" idx="5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6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2">
            <a:alphaModFix/>
          </a:blip>
          <a:srcRect l="57201" b="4753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>
            <a:spLocks noGrp="1"/>
          </p:cNvSpPr>
          <p:nvPr>
            <p:ph type="subTitle" idx="7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8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9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13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14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15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ubTitle" idx="16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subTitle" idx="17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subTitle" idx="18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19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subTitle" idx="20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21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2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BLANK_1_1_1_1_1_1_1_1_1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4"/>
          <p:cNvPicPr preferRelativeResize="0"/>
          <p:nvPr/>
        </p:nvPicPr>
        <p:blipFill rotWithShape="1">
          <a:blip r:embed="rId2">
            <a:alphaModFix/>
          </a:blip>
          <a:srcRect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/>
          <p:nvPr/>
        </p:nvSpPr>
        <p:spPr>
          <a:xfrm rot="-5400000" flipH="1">
            <a:off x="5143020" y="1161600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4600000" y="-50"/>
            <a:ext cx="3973152" cy="5143488"/>
          </a:xfrm>
          <a:custGeom>
            <a:avLst/>
            <a:gdLst/>
            <a:ahLst/>
            <a:cxnLst/>
            <a:rect l="l" t="t" r="r" b="b"/>
            <a:pathLst>
              <a:path w="124161" h="160734" extrusionOk="0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3" name="Google Shape;173;p24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24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7" name="Google Shape;177;p24"/>
          <p:cNvSpPr/>
          <p:nvPr/>
        </p:nvSpPr>
        <p:spPr>
          <a:xfrm>
            <a:off x="7766436" y="148752"/>
            <a:ext cx="1377568" cy="2421760"/>
          </a:xfrm>
          <a:custGeom>
            <a:avLst/>
            <a:gdLst/>
            <a:ahLst/>
            <a:cxnLst/>
            <a:rect l="l" t="t" r="r" b="b"/>
            <a:pathLst>
              <a:path w="43049" h="75680" extrusionOk="0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BLANK_1_1_1_1_1_1_1_1_1_1_1_1_2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/>
          <p:cNvPicPr preferRelativeResize="0"/>
          <p:nvPr/>
        </p:nvPicPr>
        <p:blipFill rotWithShape="1">
          <a:blip r:embed="rId2">
            <a:alphaModFix/>
          </a:blip>
          <a:srcRect b="59421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 l="150" b="34692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/>
          <p:nvPr/>
        </p:nvSpPr>
        <p:spPr>
          <a:xfrm>
            <a:off x="4638645" y="1838308"/>
            <a:ext cx="4505344" cy="3305184"/>
          </a:xfrm>
          <a:custGeom>
            <a:avLst/>
            <a:gdLst/>
            <a:ahLst/>
            <a:cxnLst/>
            <a:rect l="l" t="t" r="r" b="b"/>
            <a:pathLst>
              <a:path w="140792" h="103287" extrusionOk="0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25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88" name="Google Shape;188;p2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7305660" y="0"/>
            <a:ext cx="1838336" cy="1509728"/>
          </a:xfrm>
          <a:custGeom>
            <a:avLst/>
            <a:gdLst/>
            <a:ahLst/>
            <a:cxnLst/>
            <a:rect l="l" t="t" r="r" b="b"/>
            <a:pathLst>
              <a:path w="57448" h="47179" extrusionOk="0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25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3">
  <p:cSld name="BLANK_1_1_1_1_1_1_1_1_1_1_1_1_2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6"/>
          <p:cNvPicPr preferRelativeResize="0"/>
          <p:nvPr/>
        </p:nvPicPr>
        <p:blipFill rotWithShape="1">
          <a:blip r:embed="rId2">
            <a:alphaModFix/>
          </a:blip>
          <a:srcRect t="23213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 r="37757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body" idx="1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26"/>
          <p:cNvSpPr txBox="1">
            <a:spLocks noGrp="1"/>
          </p:cNvSpPr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0" y="0"/>
            <a:ext cx="4296549" cy="4588647"/>
          </a:xfrm>
          <a:custGeom>
            <a:avLst/>
            <a:gdLst/>
            <a:ahLst/>
            <a:cxnLst/>
            <a:rect l="l" t="t" r="r" b="b"/>
            <a:pathLst>
              <a:path w="136811" h="146112" extrusionOk="0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0" name="Google Shape;200;p26"/>
          <p:cNvSpPr>
            <a:spLocks noGrp="1"/>
          </p:cNvSpPr>
          <p:nvPr>
            <p:ph type="pic" idx="2"/>
          </p:nvPr>
        </p:nvSpPr>
        <p:spPr>
          <a:xfrm>
            <a:off x="3138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201" name="Google Shape;201;p26"/>
          <p:cNvSpPr/>
          <p:nvPr/>
        </p:nvSpPr>
        <p:spPr>
          <a:xfrm>
            <a:off x="-1692" y="0"/>
            <a:ext cx="1834577" cy="1066372"/>
          </a:xfrm>
          <a:custGeom>
            <a:avLst/>
            <a:gdLst/>
            <a:ahLst/>
            <a:cxnLst/>
            <a:rect l="l" t="t" r="r" b="b"/>
            <a:pathLst>
              <a:path w="59978" h="34863" extrusionOk="0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3" name="Google Shape;203;p26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4">
  <p:cSld name="BLANK_1_1_1_1_1_1_1_1_1_1_1_1_2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7"/>
          <p:cNvPicPr preferRelativeResize="0"/>
          <p:nvPr/>
        </p:nvPicPr>
        <p:blipFill rotWithShape="1">
          <a:blip r:embed="rId2">
            <a:alphaModFix/>
          </a:blip>
          <a:srcRect b="50879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3">
            <a:alphaModFix/>
          </a:blip>
          <a:srcRect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/>
          <p:nvPr/>
        </p:nvSpPr>
        <p:spPr>
          <a:xfrm>
            <a:off x="5269687" y="0"/>
            <a:ext cx="3874304" cy="2438400"/>
          </a:xfrm>
          <a:custGeom>
            <a:avLst/>
            <a:gdLst/>
            <a:ahLst/>
            <a:cxnLst/>
            <a:rect l="l" t="t" r="r" b="b"/>
            <a:pathLst>
              <a:path w="121072" h="76200" extrusionOk="0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211" name="Google Shape;211;p2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4680310" y="3856552"/>
            <a:ext cx="2576544" cy="1302560"/>
          </a:xfrm>
          <a:custGeom>
            <a:avLst/>
            <a:gdLst/>
            <a:ahLst/>
            <a:cxnLst/>
            <a:rect l="l" t="t" r="r" b="b"/>
            <a:pathLst>
              <a:path w="80517" h="40705" extrusionOk="0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4" name="Google Shape;214;p27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>
            <a:spLocks noGrp="1"/>
          </p:cNvSpPr>
          <p:nvPr>
            <p:ph type="subTitle" idx="1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subTitle" idx="2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subTitle" idx="3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4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5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6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4" name="Google Shape;224;p28"/>
          <p:cNvSpPr txBox="1">
            <a:spLocks noGrp="1"/>
          </p:cNvSpPr>
          <p:nvPr>
            <p:ph type="subTitle" idx="7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BLANK_1_1_1_1_2_1_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9"/>
          <p:cNvPicPr preferRelativeResize="0"/>
          <p:nvPr/>
        </p:nvPicPr>
        <p:blipFill rotWithShape="1">
          <a:blip r:embed="rId2">
            <a:alphaModFix/>
          </a:blip>
          <a:srcRect l="534" t="71891" r="13408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3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title" idx="4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32" name="Google Shape;232;p29"/>
          <p:cNvSpPr>
            <a:spLocks noGrp="1"/>
          </p:cNvSpPr>
          <p:nvPr>
            <p:ph type="pic" idx="5"/>
          </p:nvPr>
        </p:nvSpPr>
        <p:spPr>
          <a:xfrm>
            <a:off x="309350" y="1425725"/>
            <a:ext cx="1409700" cy="1409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pic>
        <p:nvPicPr>
          <p:cNvPr id="233" name="Google Shape;233;p29"/>
          <p:cNvPicPr preferRelativeResize="0"/>
          <p:nvPr/>
        </p:nvPicPr>
        <p:blipFill rotWithShape="1">
          <a:blip r:embed="rId3">
            <a:alphaModFix/>
          </a:blip>
          <a:srcRect t="49683" r="49117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>
            <a:spLocks noGrp="1"/>
          </p:cNvSpPr>
          <p:nvPr>
            <p:ph type="title" idx="6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35" name="Google Shape;235;p29"/>
          <p:cNvSpPr/>
          <p:nvPr/>
        </p:nvSpPr>
        <p:spPr>
          <a:xfrm>
            <a:off x="7302102" y="-1"/>
            <a:ext cx="1841902" cy="1572524"/>
          </a:xfrm>
          <a:custGeom>
            <a:avLst/>
            <a:gdLst/>
            <a:ahLst/>
            <a:cxnLst/>
            <a:rect l="l" t="t" r="r" b="b"/>
            <a:pathLst>
              <a:path w="65894" h="56257" extrusionOk="0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7" name="Google Shape;237;p29"/>
          <p:cNvSpPr txBox="1">
            <a:spLocks noGrp="1"/>
          </p:cNvSpPr>
          <p:nvPr>
            <p:ph type="subTitle" idx="7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3">
  <p:cSld name="BLANK_1_1_1_1_1_1_1_1_1_1_1_1_1_1_2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0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>
            <a:spLocks noGrp="1"/>
          </p:cNvSpPr>
          <p:nvPr>
            <p:ph type="body" idx="1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body" idx="2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body" idx="3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body" idx="4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body" idx="5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body" idx="6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6" name="Google Shape;246;p30"/>
          <p:cNvSpPr txBox="1">
            <a:spLocks noGrp="1"/>
          </p:cNvSpPr>
          <p:nvPr>
            <p:ph type="body" idx="7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body" idx="8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body" idx="9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body" idx="13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marL="914400" lvl="1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marL="1371600" lvl="2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marL="1828800" lvl="3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marL="2286000" lvl="4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marL="2743200" lvl="5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marL="3200400" lvl="6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marL="3657600" lvl="7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marL="4114800" lvl="8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body" idx="14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body" idx="15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body" idx="16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53" name="Google Shape;253;p30"/>
          <p:cNvSpPr txBox="1">
            <a:spLocks noGrp="1"/>
          </p:cNvSpPr>
          <p:nvPr>
            <p:ph type="body" idx="17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title" idx="18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title" idx="19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title" idx="20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title" idx="21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9" name="Google Shape;259;p30"/>
          <p:cNvSpPr txBox="1">
            <a:spLocks noGrp="1"/>
          </p:cNvSpPr>
          <p:nvPr>
            <p:ph type="title" idx="22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0" name="Google Shape;260;p30"/>
          <p:cNvSpPr txBox="1">
            <a:spLocks noGrp="1"/>
          </p:cNvSpPr>
          <p:nvPr>
            <p:ph type="title" idx="23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1" name="Google Shape;261;p30"/>
          <p:cNvSpPr txBox="1">
            <a:spLocks noGrp="1"/>
          </p:cNvSpPr>
          <p:nvPr>
            <p:ph type="subTitle" idx="24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2" name="Google Shape;262;p30"/>
          <p:cNvSpPr txBox="1">
            <a:spLocks noGrp="1"/>
          </p:cNvSpPr>
          <p:nvPr>
            <p:ph type="subTitle" idx="25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3" name="Google Shape;263;p30"/>
          <p:cNvSpPr txBox="1">
            <a:spLocks noGrp="1"/>
          </p:cNvSpPr>
          <p:nvPr>
            <p:ph type="body" idx="26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64" name="Google Shape;264;p30"/>
          <p:cNvSpPr txBox="1">
            <a:spLocks noGrp="1"/>
          </p:cNvSpPr>
          <p:nvPr>
            <p:ph type="subTitle" idx="27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6" name="Google Shape;266;p30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">
  <p:cSld name="BLANK_1_1_1_1_2_1_2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1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>
            <a:spLocks noGrp="1"/>
          </p:cNvSpPr>
          <p:nvPr>
            <p:ph type="body" idx="1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body" idx="2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 idx="3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body" idx="4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74" name="Google Shape;274;p31"/>
          <p:cNvSpPr>
            <a:spLocks noGrp="1"/>
          </p:cNvSpPr>
          <p:nvPr>
            <p:ph type="pic" idx="5"/>
          </p:nvPr>
        </p:nvSpPr>
        <p:spPr>
          <a:xfrm>
            <a:off x="309350" y="952800"/>
            <a:ext cx="2754000" cy="1634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75" name="Google Shape;275;p31"/>
          <p:cNvSpPr txBox="1">
            <a:spLocks noGrp="1"/>
          </p:cNvSpPr>
          <p:nvPr>
            <p:ph type="title" idx="6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76" name="Google Shape;276;p31"/>
          <p:cNvSpPr txBox="1">
            <a:spLocks noGrp="1"/>
          </p:cNvSpPr>
          <p:nvPr>
            <p:ph type="title" idx="7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77" name="Google Shape;277;p31"/>
          <p:cNvSpPr txBox="1">
            <a:spLocks noGrp="1"/>
          </p:cNvSpPr>
          <p:nvPr>
            <p:ph type="title" idx="8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78" name="Google Shape;278;p3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9" name="Google Shape;279;p31"/>
          <p:cNvSpPr txBox="1">
            <a:spLocks noGrp="1"/>
          </p:cNvSpPr>
          <p:nvPr>
            <p:ph type="title" idx="9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0" name="Google Shape;280;p31"/>
          <p:cNvSpPr txBox="1">
            <a:spLocks noGrp="1"/>
          </p:cNvSpPr>
          <p:nvPr>
            <p:ph type="subTitle" idx="1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 - Alt 1">
  <p:cSld name="BLANK_1_1_1_1_2_1_2_1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2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>
            <a:spLocks noGrp="1"/>
          </p:cNvSpPr>
          <p:nvPr>
            <p:ph type="body" idx="1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2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title" idx="3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7" name="Google Shape;287;p32"/>
          <p:cNvSpPr txBox="1">
            <a:spLocks noGrp="1"/>
          </p:cNvSpPr>
          <p:nvPr>
            <p:ph type="title" idx="4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8" name="Google Shape;288;p32"/>
          <p:cNvSpPr txBox="1">
            <a:spLocks noGrp="1"/>
          </p:cNvSpPr>
          <p:nvPr>
            <p:ph type="title" idx="5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title" idx="6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0" name="Google Shape;290;p3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1" name="Google Shape;291;p32"/>
          <p:cNvSpPr txBox="1">
            <a:spLocks noGrp="1"/>
          </p:cNvSpPr>
          <p:nvPr>
            <p:ph type="title" idx="7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title" idx="8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3" name="Google Shape;293;p32"/>
          <p:cNvSpPr txBox="1">
            <a:spLocks noGrp="1"/>
          </p:cNvSpPr>
          <p:nvPr>
            <p:ph type="title" idx="9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4" name="Google Shape;294;p32"/>
          <p:cNvSpPr txBox="1">
            <a:spLocks noGrp="1"/>
          </p:cNvSpPr>
          <p:nvPr>
            <p:ph type="title" idx="13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5" name="Google Shape;295;p32"/>
          <p:cNvSpPr txBox="1">
            <a:spLocks noGrp="1"/>
          </p:cNvSpPr>
          <p:nvPr>
            <p:ph type="title" idx="14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6" name="Google Shape;296;p32"/>
          <p:cNvSpPr txBox="1">
            <a:spLocks noGrp="1"/>
          </p:cNvSpPr>
          <p:nvPr>
            <p:ph type="title" idx="15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title" idx="16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8" name="Google Shape;298;p32"/>
          <p:cNvSpPr txBox="1">
            <a:spLocks noGrp="1"/>
          </p:cNvSpPr>
          <p:nvPr>
            <p:ph type="title" idx="17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9" name="Google Shape;299;p32"/>
          <p:cNvSpPr txBox="1">
            <a:spLocks noGrp="1"/>
          </p:cNvSpPr>
          <p:nvPr>
            <p:ph type="title" idx="18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0" name="Google Shape;300;p32"/>
          <p:cNvSpPr txBox="1">
            <a:spLocks noGrp="1"/>
          </p:cNvSpPr>
          <p:nvPr>
            <p:ph type="title" idx="19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1" name="Google Shape;301;p32"/>
          <p:cNvSpPr txBox="1">
            <a:spLocks noGrp="1"/>
          </p:cNvSpPr>
          <p:nvPr>
            <p:ph type="title" idx="20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2" name="Google Shape;302;p32"/>
          <p:cNvSpPr txBox="1">
            <a:spLocks noGrp="1"/>
          </p:cNvSpPr>
          <p:nvPr>
            <p:ph type="title" idx="21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3" name="Google Shape;303;p32"/>
          <p:cNvSpPr txBox="1">
            <a:spLocks noGrp="1"/>
          </p:cNvSpPr>
          <p:nvPr>
            <p:ph type="title" idx="22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4" name="Google Shape;304;p32"/>
          <p:cNvSpPr txBox="1">
            <a:spLocks noGrp="1"/>
          </p:cNvSpPr>
          <p:nvPr>
            <p:ph type="title" idx="23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5" name="Google Shape;305;p32"/>
          <p:cNvSpPr txBox="1">
            <a:spLocks noGrp="1"/>
          </p:cNvSpPr>
          <p:nvPr>
            <p:ph type="title" idx="24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6" name="Google Shape;306;p32"/>
          <p:cNvSpPr txBox="1">
            <a:spLocks noGrp="1"/>
          </p:cNvSpPr>
          <p:nvPr>
            <p:ph type="title" idx="25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7" name="Google Shape;307;p32"/>
          <p:cNvSpPr txBox="1">
            <a:spLocks noGrp="1"/>
          </p:cNvSpPr>
          <p:nvPr>
            <p:ph type="title" idx="26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8" name="Google Shape;308;p32"/>
          <p:cNvSpPr txBox="1">
            <a:spLocks noGrp="1"/>
          </p:cNvSpPr>
          <p:nvPr>
            <p:ph type="title" idx="27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09" name="Google Shape;309;p32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BLANK_1_1_1_1_1_1_1_1_1_1_1_1_1_1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>
            <a:spLocks noGrp="1"/>
          </p:cNvSpPr>
          <p:nvPr>
            <p:ph type="subTitle" idx="1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12" name="Google Shape;312;p33"/>
          <p:cNvSpPr txBox="1">
            <a:spLocks noGrp="1"/>
          </p:cNvSpPr>
          <p:nvPr>
            <p:ph type="subTitle" idx="2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13" name="Google Shape;313;p33"/>
          <p:cNvSpPr txBox="1">
            <a:spLocks noGrp="1"/>
          </p:cNvSpPr>
          <p:nvPr>
            <p:ph type="subTitle" idx="3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14" name="Google Shape;314;p33"/>
          <p:cNvSpPr txBox="1">
            <a:spLocks noGrp="1"/>
          </p:cNvSpPr>
          <p:nvPr>
            <p:ph type="subTitle" idx="4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pic>
        <p:nvPicPr>
          <p:cNvPr id="315" name="Google Shape;315;p33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 txBox="1">
            <a:spLocks noGrp="1"/>
          </p:cNvSpPr>
          <p:nvPr>
            <p:ph type="body" idx="5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17" name="Google Shape;317;p3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18" name="Google Shape;318;p33"/>
          <p:cNvSpPr txBox="1">
            <a:spLocks noGrp="1"/>
          </p:cNvSpPr>
          <p:nvPr>
            <p:ph type="body" idx="6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19" name="Google Shape;319;p33"/>
          <p:cNvSpPr txBox="1">
            <a:spLocks noGrp="1"/>
          </p:cNvSpPr>
          <p:nvPr>
            <p:ph type="body" idx="7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20" name="Google Shape;320;p33"/>
          <p:cNvSpPr txBox="1">
            <a:spLocks noGrp="1"/>
          </p:cNvSpPr>
          <p:nvPr>
            <p:ph type="body" idx="8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2" name="Google Shape;322;p33"/>
          <p:cNvSpPr txBox="1">
            <a:spLocks noGrp="1"/>
          </p:cNvSpPr>
          <p:nvPr>
            <p:ph type="subTitle" idx="9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4"/>
          <p:cNvPicPr preferRelativeResize="0"/>
          <p:nvPr/>
        </p:nvPicPr>
        <p:blipFill rotWithShape="1">
          <a:blip r:embed="rId2">
            <a:alphaModFix/>
          </a:blip>
          <a:srcRect l="535" t="71891" r="33362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26" name="Google Shape;326;p34"/>
          <p:cNvSpPr txBox="1">
            <a:spLocks noGrp="1"/>
          </p:cNvSpPr>
          <p:nvPr>
            <p:ph type="title" idx="2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3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28" name="Google Shape;328;p34"/>
          <p:cNvSpPr txBox="1">
            <a:spLocks noGrp="1"/>
          </p:cNvSpPr>
          <p:nvPr>
            <p:ph type="title" idx="4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29" name="Google Shape;329;p34"/>
          <p:cNvSpPr txBox="1">
            <a:spLocks noGrp="1"/>
          </p:cNvSpPr>
          <p:nvPr>
            <p:ph type="title" idx="5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30" name="Google Shape;330;p34"/>
          <p:cNvSpPr txBox="1">
            <a:spLocks noGrp="1"/>
          </p:cNvSpPr>
          <p:nvPr>
            <p:ph type="title" idx="6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31" name="Google Shape;331;p34"/>
          <p:cNvSpPr txBox="1">
            <a:spLocks noGrp="1"/>
          </p:cNvSpPr>
          <p:nvPr>
            <p:ph type="title" idx="7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32" name="Google Shape;332;p34"/>
          <p:cNvSpPr txBox="1">
            <a:spLocks noGrp="1"/>
          </p:cNvSpPr>
          <p:nvPr>
            <p:ph type="title" idx="8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title" idx="9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title" idx="13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35" name="Google Shape;335;p34"/>
          <p:cNvSpPr txBox="1">
            <a:spLocks noGrp="1"/>
          </p:cNvSpPr>
          <p:nvPr>
            <p:ph type="title" idx="14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36" name="Google Shape;336;p34"/>
          <p:cNvSpPr txBox="1">
            <a:spLocks noGrp="1"/>
          </p:cNvSpPr>
          <p:nvPr>
            <p:ph type="title" idx="15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37" name="Google Shape;337;p3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ig ideas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5"/>
          <p:cNvSpPr txBox="1">
            <a:spLocks noGrp="1"/>
          </p:cNvSpPr>
          <p:nvPr>
            <p:ph type="subTitle" idx="1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41" name="Google Shape;341;p35"/>
          <p:cNvSpPr txBox="1">
            <a:spLocks noGrp="1"/>
          </p:cNvSpPr>
          <p:nvPr>
            <p:ph type="subTitle" idx="2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42" name="Google Shape;342;p35"/>
          <p:cNvSpPr txBox="1">
            <a:spLocks noGrp="1"/>
          </p:cNvSpPr>
          <p:nvPr>
            <p:ph type="subTitle" idx="3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43" name="Google Shape;343;p35"/>
          <p:cNvSpPr txBox="1">
            <a:spLocks noGrp="1"/>
          </p:cNvSpPr>
          <p:nvPr>
            <p:ph type="subTitle" idx="4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44" name="Google Shape;344;p35"/>
          <p:cNvSpPr txBox="1">
            <a:spLocks noGrp="1"/>
          </p:cNvSpPr>
          <p:nvPr>
            <p:ph type="subTitle" idx="5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pic>
        <p:nvPicPr>
          <p:cNvPr id="345" name="Google Shape;345;p35"/>
          <p:cNvPicPr preferRelativeResize="0"/>
          <p:nvPr/>
        </p:nvPicPr>
        <p:blipFill rotWithShape="1">
          <a:blip r:embed="rId2">
            <a:alphaModFix/>
          </a:blip>
          <a:srcRect t="70460" r="33897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 txBox="1">
            <a:spLocks noGrp="1"/>
          </p:cNvSpPr>
          <p:nvPr>
            <p:ph type="body" idx="6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47" name="Google Shape;347;p35"/>
          <p:cNvSpPr txBox="1">
            <a:spLocks noGrp="1"/>
          </p:cNvSpPr>
          <p:nvPr>
            <p:ph type="body" idx="7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48" name="Google Shape;348;p35"/>
          <p:cNvSpPr txBox="1">
            <a:spLocks noGrp="1"/>
          </p:cNvSpPr>
          <p:nvPr>
            <p:ph type="body" idx="8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49" name="Google Shape;349;p35"/>
          <p:cNvSpPr txBox="1">
            <a:spLocks noGrp="1"/>
          </p:cNvSpPr>
          <p:nvPr>
            <p:ph type="body" idx="9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50" name="Google Shape;350;p3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51" name="Google Shape;351;p35"/>
          <p:cNvSpPr txBox="1">
            <a:spLocks noGrp="1"/>
          </p:cNvSpPr>
          <p:nvPr>
            <p:ph type="body" idx="13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52" name="Google Shape;352;p3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3" name="Google Shape;353;p35"/>
          <p:cNvSpPr txBox="1">
            <a:spLocks noGrp="1"/>
          </p:cNvSpPr>
          <p:nvPr>
            <p:ph type="subTitle" idx="14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BLANK_1_1_1_1_1_1_1_1_1_1_1_1_1_1_1_1_1_1_1_1_1_1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56" name="Google Shape;356;p36"/>
          <p:cNvPicPr preferRelativeResize="0"/>
          <p:nvPr/>
        </p:nvPicPr>
        <p:blipFill rotWithShape="1">
          <a:blip r:embed="rId2">
            <a:alphaModFix/>
          </a:blip>
          <a:srcRect l="7339" b="46245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59" name="Google Shape;359;p36"/>
          <p:cNvSpPr/>
          <p:nvPr/>
        </p:nvSpPr>
        <p:spPr>
          <a:xfrm>
            <a:off x="-4" y="1992734"/>
            <a:ext cx="3736169" cy="3157919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0" name="Google Shape;360;p36"/>
          <p:cNvSpPr txBox="1">
            <a:spLocks noGrp="1"/>
          </p:cNvSpPr>
          <p:nvPr>
            <p:ph type="body" idx="1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61" name="Google Shape;361;p36"/>
          <p:cNvSpPr txBox="1">
            <a:spLocks noGrp="1"/>
          </p:cNvSpPr>
          <p:nvPr>
            <p:ph type="body" idx="2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62" name="Google Shape;362;p36"/>
          <p:cNvSpPr txBox="1">
            <a:spLocks noGrp="1"/>
          </p:cNvSpPr>
          <p:nvPr>
            <p:ph type="body" idx="3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63" name="Google Shape;363;p36"/>
          <p:cNvSpPr txBox="1">
            <a:spLocks noGrp="1"/>
          </p:cNvSpPr>
          <p:nvPr>
            <p:ph type="subTitle" idx="4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BLANK_1_1_1_1_1_1_2">
    <p:bg>
      <p:bgPr>
        <a:solidFill>
          <a:schemeClr val="accent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t="51307" r="54483"/>
          <a:stretch/>
        </p:blipFill>
        <p:spPr>
          <a:xfrm rot="10800000" flipH="1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7" name="Google Shape;367;p37"/>
          <p:cNvSpPr txBox="1">
            <a:spLocks noGrp="1"/>
          </p:cNvSpPr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subTitle" idx="1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369" name="Google Shape;369;p37"/>
          <p:cNvSpPr/>
          <p:nvPr/>
        </p:nvSpPr>
        <p:spPr>
          <a:xfrm flipH="1">
            <a:off x="11" y="148752"/>
            <a:ext cx="1377568" cy="2421760"/>
          </a:xfrm>
          <a:custGeom>
            <a:avLst/>
            <a:gdLst/>
            <a:ahLst/>
            <a:cxnLst/>
            <a:rect l="l" t="t" r="r" b="b"/>
            <a:pathLst>
              <a:path w="43049" h="75680" extrusionOk="0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0" name="Google Shape;370;p37"/>
          <p:cNvSpPr txBox="1">
            <a:spLocks noGrp="1"/>
          </p:cNvSpPr>
          <p:nvPr>
            <p:ph type="body" idx="2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9" name="Google Shape;379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4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85" name="Google Shape;385;p4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88" name="Google Shape;388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9" name="Google Shape;389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94" name="Google Shape;394;p4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4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9" name="Google Shape;399;p4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0" name="Google Shape;400;p4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7" name="Google Shape;407;p4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10" name="Google Shape;410;p4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4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4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3" name="Google Shape;413;p4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6" name="Google Shape;416;p5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7" name="Google Shape;417;p5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18" name="Google Shape;418;p50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9" name="Google Shape;419;p50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0" name="Google Shape;420;p50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1" name="Google Shape;421;p50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4" name="Google Shape;424;p5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5" name="Google Shape;425;p5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6" name="Google Shape;426;p5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7" name="Google Shape;427;p5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28" name="Google Shape;428;p5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9" name="Google Shape;429;p5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0" name="Google Shape;430;p5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1" name="Google Shape;431;p5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4" name="Google Shape;434;p5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7" name="Google Shape;437;p5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0" name="Google Shape;440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1" name="Google Shape;441;p5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2" name="Google Shape;442;p5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5" name="Google Shape;445;p5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8" name="Google Shape;448;p5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0" name="Google Shape;450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1" name="Google Shape;451;p5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2" name="Google Shape;452;p5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3" name="Google Shape;453;p5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4" name="Google Shape;464;p5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7"/>
          <p:cNvSpPr txBox="1">
            <a:spLocks noGrp="1"/>
          </p:cNvSpPr>
          <p:nvPr>
            <p:ph type="title"/>
          </p:nvPr>
        </p:nvSpPr>
        <p:spPr>
          <a:xfrm>
            <a:off x="1215752" y="1825592"/>
            <a:ext cx="6683700" cy="9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Optuna</a:t>
            </a:r>
            <a:endParaRPr/>
          </a:p>
        </p:txBody>
      </p:sp>
      <p:sp>
        <p:nvSpPr>
          <p:cNvPr id="472" name="Google Shape;472;p57"/>
          <p:cNvSpPr txBox="1">
            <a:spLocks noGrp="1"/>
          </p:cNvSpPr>
          <p:nvPr>
            <p:ph type="subTitle" idx="1"/>
          </p:nvPr>
        </p:nvSpPr>
        <p:spPr>
          <a:xfrm>
            <a:off x="2398650" y="2711739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Agnostic Tuner</a:t>
            </a:r>
            <a:endParaRPr/>
          </a:p>
        </p:txBody>
      </p:sp>
      <p:sp>
        <p:nvSpPr>
          <p:cNvPr id="473" name="Google Shape;473;p57"/>
          <p:cNvSpPr/>
          <p:nvPr/>
        </p:nvSpPr>
        <p:spPr>
          <a:xfrm rot="-395291">
            <a:off x="3110326" y="3199308"/>
            <a:ext cx="3041752" cy="281119"/>
          </a:xfrm>
          <a:custGeom>
            <a:avLst/>
            <a:gdLst/>
            <a:ahLst/>
            <a:cxnLst/>
            <a:rect l="l" t="t" r="r" b="b"/>
            <a:pathLst>
              <a:path w="182716" h="17616" extrusionOk="0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4" name="Google Shape;474;p57"/>
          <p:cNvSpPr/>
          <p:nvPr/>
        </p:nvSpPr>
        <p:spPr>
          <a:xfrm rot="-509448">
            <a:off x="4276371" y="3322374"/>
            <a:ext cx="1877891" cy="123212"/>
          </a:xfrm>
          <a:custGeom>
            <a:avLst/>
            <a:gdLst/>
            <a:ahLst/>
            <a:cxnLst/>
            <a:rect l="l" t="t" r="r" b="b"/>
            <a:pathLst>
              <a:path w="182716" h="17616" extrusionOk="0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6360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Build Models Again?</a:t>
            </a:r>
            <a:endParaRPr/>
          </a:p>
        </p:txBody>
      </p:sp>
      <p:sp>
        <p:nvSpPr>
          <p:cNvPr id="496" name="Google Shape;496;p58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05" name="Google Shape;505;p58"/>
          <p:cNvSpPr txBox="1">
            <a:spLocks noGrp="1"/>
          </p:cNvSpPr>
          <p:nvPr>
            <p:ph type="title"/>
          </p:nvPr>
        </p:nvSpPr>
        <p:spPr>
          <a:xfrm>
            <a:off x="132732" y="3819520"/>
            <a:ext cx="38937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That’s it, we are done right? </a:t>
            </a:r>
            <a:endParaRPr sz="2000"/>
          </a:p>
        </p:txBody>
      </p:sp>
      <p:sp>
        <p:nvSpPr>
          <p:cNvPr id="506" name="Google Shape;506;p58"/>
          <p:cNvSpPr txBox="1">
            <a:spLocks noGrp="1"/>
          </p:cNvSpPr>
          <p:nvPr>
            <p:ph type="title"/>
          </p:nvPr>
        </p:nvSpPr>
        <p:spPr>
          <a:xfrm>
            <a:off x="132732" y="4202836"/>
            <a:ext cx="38937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Not Quite.</a:t>
            </a:r>
            <a:endParaRPr sz="2000">
              <a:solidFill>
                <a:schemeClr val="accent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FEA4D6D-722F-207E-9AD0-40A3C182D736}"/>
              </a:ext>
            </a:extLst>
          </p:cNvPr>
          <p:cNvGrpSpPr/>
          <p:nvPr/>
        </p:nvGrpSpPr>
        <p:grpSpPr>
          <a:xfrm>
            <a:off x="61188" y="1026617"/>
            <a:ext cx="1410033" cy="1794276"/>
            <a:chOff x="61190" y="1026617"/>
            <a:chExt cx="1410033" cy="17942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1F10C9E-027B-27A1-63ED-6DFB9D1EC02A}"/>
                </a:ext>
              </a:extLst>
            </p:cNvPr>
            <p:cNvSpPr txBox="1"/>
            <p:nvPr/>
          </p:nvSpPr>
          <p:spPr>
            <a:xfrm>
              <a:off x="61190" y="1495145"/>
              <a:ext cx="1283110" cy="1325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df = pd.read_csv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BE123C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"file.csv"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df = shuffle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df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 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random_state=</a:t>
              </a:r>
              <a:r>
                <a:rPr lang="en-US" sz="700">
                  <a:solidFill>
                    <a:srgbClr val="059669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42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lang="en-US" sz="700" b="1"/>
            </a:p>
            <a:p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6A2CB1E-BD8D-BD95-366A-F7DDF4129E43}"/>
                </a:ext>
              </a:extLst>
            </p:cNvPr>
            <p:cNvSpPr/>
            <p:nvPr/>
          </p:nvSpPr>
          <p:spPr>
            <a:xfrm>
              <a:off x="101677" y="1026617"/>
              <a:ext cx="1369546" cy="257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00" b="1"/>
                <a:t>Load / Shuffle Data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388380A-D630-CBC7-5CF9-7E9A46766458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106371"/>
              <a:ext cx="0" cy="36870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5523D66-9374-99EA-1F59-8DE7AEBCE81E}"/>
                </a:ext>
              </a:extLst>
            </p:cNvPr>
            <p:cNvSpPr/>
            <p:nvPr/>
          </p:nvSpPr>
          <p:spPr>
            <a:xfrm>
              <a:off x="132734" y="1076630"/>
              <a:ext cx="169607" cy="16223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A30F39-F6FC-BEFE-1505-AF567076D3B4}"/>
              </a:ext>
            </a:extLst>
          </p:cNvPr>
          <p:cNvGrpSpPr/>
          <p:nvPr/>
        </p:nvGrpSpPr>
        <p:grpSpPr>
          <a:xfrm>
            <a:off x="1311636" y="1364466"/>
            <a:ext cx="1463865" cy="1196974"/>
            <a:chOff x="1311636" y="1364466"/>
            <a:chExt cx="1463865" cy="11969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61E2FA-E9D7-0821-2887-72ABE02FFFA2}"/>
                </a:ext>
              </a:extLst>
            </p:cNvPr>
            <p:cNvSpPr txBox="1"/>
            <p:nvPr/>
          </p:nvSpPr>
          <p:spPr>
            <a:xfrm>
              <a:off x="1311636" y="1901964"/>
              <a:ext cx="1283110" cy="659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X = df.drop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columns=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[</a:t>
              </a:r>
              <a:r>
                <a:rPr lang="en-US" sz="700">
                  <a:solidFill>
                    <a:srgbClr val="BE123C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'price'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]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y = df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[</a:t>
              </a:r>
              <a:r>
                <a:rPr lang="en-US" sz="700">
                  <a:solidFill>
                    <a:srgbClr val="BE123C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'price'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]</a:t>
              </a:r>
              <a:endParaRPr lang="en-US" sz="700">
                <a:highlight>
                  <a:srgbClr val="F8FAFC"/>
                </a:highlight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FC5B8B7-6D8A-9283-2DD5-22E6F010A6B6}"/>
                </a:ext>
              </a:extLst>
            </p:cNvPr>
            <p:cNvSpPr/>
            <p:nvPr/>
          </p:nvSpPr>
          <p:spPr>
            <a:xfrm>
              <a:off x="1353202" y="1364466"/>
              <a:ext cx="1422299" cy="257100"/>
            </a:xfrm>
            <a:prstGeom prst="roundRect">
              <a:avLst>
                <a:gd name="adj" fmla="val 50000"/>
              </a:avLst>
            </a:prstGeom>
            <a:solidFill>
              <a:srgbClr val="FF69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00" b="1"/>
                <a:t>Select X &amp; Y Data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74CEC92-226B-A682-C207-CFC54011A26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900" y="1543420"/>
              <a:ext cx="0" cy="368709"/>
            </a:xfrm>
            <a:prstGeom prst="line">
              <a:avLst/>
            </a:prstGeom>
            <a:ln w="19050">
              <a:solidFill>
                <a:srgbClr val="FF69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E81E2F0-DE01-AFC5-30A6-1B9A786C65DB}"/>
                </a:ext>
              </a:extLst>
            </p:cNvPr>
            <p:cNvSpPr/>
            <p:nvPr/>
          </p:nvSpPr>
          <p:spPr>
            <a:xfrm>
              <a:off x="1413388" y="1406009"/>
              <a:ext cx="169607" cy="16223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64E040-49AB-B200-3D1C-5702FCCE818A}"/>
              </a:ext>
            </a:extLst>
          </p:cNvPr>
          <p:cNvGrpSpPr/>
          <p:nvPr/>
        </p:nvGrpSpPr>
        <p:grpSpPr>
          <a:xfrm>
            <a:off x="2597244" y="1706901"/>
            <a:ext cx="1714948" cy="1409345"/>
            <a:chOff x="2663612" y="1706901"/>
            <a:chExt cx="1714948" cy="140934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48983F-856C-88B9-5624-097A8190FF4C}"/>
                </a:ext>
              </a:extLst>
            </p:cNvPr>
            <p:cNvSpPr txBox="1"/>
            <p:nvPr/>
          </p:nvSpPr>
          <p:spPr>
            <a:xfrm>
              <a:off x="2663612" y="2189069"/>
              <a:ext cx="1283110" cy="927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X_train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X_test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y_train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y_test = train_test_split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X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y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test_size = </a:t>
              </a:r>
              <a:r>
                <a:rPr lang="en-US" sz="700">
                  <a:solidFill>
                    <a:srgbClr val="059669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0.2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random_state = </a:t>
              </a:r>
              <a:r>
                <a:rPr lang="en-US" sz="700">
                  <a:solidFill>
                    <a:srgbClr val="059669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42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</a:p>
            <a:p>
              <a:endParaRPr lang="en-US" sz="70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85EC870-4AF5-6E74-02F0-9F9C1B9D3AFD}"/>
                </a:ext>
              </a:extLst>
            </p:cNvPr>
            <p:cNvSpPr/>
            <p:nvPr/>
          </p:nvSpPr>
          <p:spPr>
            <a:xfrm>
              <a:off x="2663612" y="1706901"/>
              <a:ext cx="1714948" cy="257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00" b="1"/>
                <a:t>Split Dataset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26EE7A-7589-B3B9-E00C-993B6CD3F38B}"/>
                </a:ext>
              </a:extLst>
            </p:cNvPr>
            <p:cNvCxnSpPr>
              <a:cxnSpLocks/>
            </p:cNvCxnSpPr>
            <p:nvPr/>
          </p:nvCxnSpPr>
          <p:spPr>
            <a:xfrm>
              <a:off x="2850384" y="1820360"/>
              <a:ext cx="0" cy="36870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F860C1-0002-BC95-DAC4-5360BE9BC521}"/>
                </a:ext>
              </a:extLst>
            </p:cNvPr>
            <p:cNvSpPr/>
            <p:nvPr/>
          </p:nvSpPr>
          <p:spPr>
            <a:xfrm>
              <a:off x="2775157" y="1742763"/>
              <a:ext cx="169607" cy="16223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856067-C762-34CA-29CD-1644615CE37D}"/>
              </a:ext>
            </a:extLst>
          </p:cNvPr>
          <p:cNvGrpSpPr/>
          <p:nvPr/>
        </p:nvGrpSpPr>
        <p:grpSpPr>
          <a:xfrm>
            <a:off x="4202365" y="1974602"/>
            <a:ext cx="2039491" cy="1358744"/>
            <a:chOff x="4253981" y="1974602"/>
            <a:chExt cx="2039491" cy="13587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5E8CA9-7345-720B-230E-68F820A3EC56}"/>
                </a:ext>
              </a:extLst>
            </p:cNvPr>
            <p:cNvSpPr txBox="1"/>
            <p:nvPr/>
          </p:nvSpPr>
          <p:spPr>
            <a:xfrm>
              <a:off x="4253981" y="2378341"/>
              <a:ext cx="1882018" cy="95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baseline = XGBRegressor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 objective=</a:t>
              </a:r>
              <a:r>
                <a:rPr lang="en-US" sz="700">
                  <a:solidFill>
                    <a:srgbClr val="BE123C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'reg:squarederror'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 random_state=</a:t>
              </a:r>
              <a:r>
                <a:rPr lang="en-US" sz="700">
                  <a:solidFill>
                    <a:srgbClr val="059669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42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 n_jobs = </a:t>
              </a:r>
              <a:r>
                <a:rPr lang="en-US" sz="700">
                  <a:solidFill>
                    <a:srgbClr val="059669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-1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 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lang="en-US" sz="700">
                <a:solidFill>
                  <a:schemeClr val="dk1"/>
                </a:solidFill>
                <a:highlight>
                  <a:srgbClr val="F8FAFC"/>
                </a:highlight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A1CE9AE-0993-D26E-7EB5-7B387B334E27}"/>
                </a:ext>
              </a:extLst>
            </p:cNvPr>
            <p:cNvSpPr/>
            <p:nvPr/>
          </p:nvSpPr>
          <p:spPr>
            <a:xfrm>
              <a:off x="4266374" y="1974602"/>
              <a:ext cx="2027098" cy="25710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00" b="1"/>
                <a:t>Build Model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FE9E6D7-A10D-FF89-42B4-0C971F6742B9}"/>
                </a:ext>
              </a:extLst>
            </p:cNvPr>
            <p:cNvCxnSpPr>
              <a:cxnSpLocks/>
            </p:cNvCxnSpPr>
            <p:nvPr/>
          </p:nvCxnSpPr>
          <p:spPr>
            <a:xfrm>
              <a:off x="4440753" y="2019343"/>
              <a:ext cx="0" cy="368709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E329CC7-F19C-B5B7-C02A-9CEB0D25131E}"/>
                </a:ext>
              </a:extLst>
            </p:cNvPr>
            <p:cNvSpPr/>
            <p:nvPr/>
          </p:nvSpPr>
          <p:spPr>
            <a:xfrm>
              <a:off x="4372902" y="2020523"/>
              <a:ext cx="169607" cy="16223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505D364-A025-C343-0E76-11D024F3F492}"/>
              </a:ext>
            </a:extLst>
          </p:cNvPr>
          <p:cNvGrpSpPr/>
          <p:nvPr/>
        </p:nvGrpSpPr>
        <p:grpSpPr>
          <a:xfrm>
            <a:off x="6100070" y="2231702"/>
            <a:ext cx="1010320" cy="1105211"/>
            <a:chOff x="6203309" y="2231702"/>
            <a:chExt cx="1010320" cy="110521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CB4356-C6DC-CDA8-49CF-14BAE2A70FBA}"/>
                </a:ext>
              </a:extLst>
            </p:cNvPr>
            <p:cNvSpPr txBox="1"/>
            <p:nvPr/>
          </p:nvSpPr>
          <p:spPr>
            <a:xfrm>
              <a:off x="6203309" y="2677117"/>
              <a:ext cx="1010320" cy="659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5000"/>
                </a:lnSpc>
              </a:pPr>
              <a:r>
                <a:rPr lang="fr-FR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baseline.fit</a:t>
              </a:r>
              <a:r>
                <a:rPr lang="fr-FR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</a:p>
            <a:p>
              <a:pPr lvl="0">
                <a:lnSpc>
                  <a:spcPct val="135000"/>
                </a:lnSpc>
              </a:pPr>
              <a:r>
                <a:rPr lang="fr-FR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X_train</a:t>
              </a:r>
              <a:r>
                <a:rPr lang="fr-FR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fr-FR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</a:p>
            <a:p>
              <a:pPr lvl="0">
                <a:lnSpc>
                  <a:spcPct val="135000"/>
                </a:lnSpc>
              </a:pPr>
              <a:r>
                <a:rPr lang="fr-FR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y_train</a:t>
              </a:r>
            </a:p>
            <a:p>
              <a:pPr lvl="0">
                <a:lnSpc>
                  <a:spcPct val="135000"/>
                </a:lnSpc>
              </a:pPr>
              <a:r>
                <a:rPr lang="fr-FR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1A4A020-001C-0CED-5577-D2AEE1919843}"/>
                </a:ext>
              </a:extLst>
            </p:cNvPr>
            <p:cNvSpPr/>
            <p:nvPr/>
          </p:nvSpPr>
          <p:spPr>
            <a:xfrm>
              <a:off x="6243255" y="2231702"/>
              <a:ext cx="970374" cy="257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00" b="1"/>
                <a:t>Fit Model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1AC56A5-0CE6-0CE7-EE01-26AACEF8A8D0}"/>
                </a:ext>
              </a:extLst>
            </p:cNvPr>
            <p:cNvCxnSpPr>
              <a:cxnSpLocks/>
            </p:cNvCxnSpPr>
            <p:nvPr/>
          </p:nvCxnSpPr>
          <p:spPr>
            <a:xfrm>
              <a:off x="6400527" y="2304447"/>
              <a:ext cx="0" cy="368709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C7393AC-3D24-6D65-1F13-FA0A991904D7}"/>
                </a:ext>
              </a:extLst>
            </p:cNvPr>
            <p:cNvSpPr/>
            <p:nvPr/>
          </p:nvSpPr>
          <p:spPr>
            <a:xfrm>
              <a:off x="6288433" y="2268787"/>
              <a:ext cx="169607" cy="16223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F1F8158-F6AF-A5E6-9B5F-B0846891EC6C}"/>
              </a:ext>
            </a:extLst>
          </p:cNvPr>
          <p:cNvGrpSpPr/>
          <p:nvPr/>
        </p:nvGrpSpPr>
        <p:grpSpPr>
          <a:xfrm>
            <a:off x="7048129" y="2461140"/>
            <a:ext cx="2044251" cy="2651106"/>
            <a:chOff x="7070252" y="2461140"/>
            <a:chExt cx="2044251" cy="265110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DB29A9-47A9-3290-BCBA-345E05657FF8}"/>
                </a:ext>
              </a:extLst>
            </p:cNvPr>
            <p:cNvSpPr txBox="1"/>
            <p:nvPr/>
          </p:nvSpPr>
          <p:spPr>
            <a:xfrm>
              <a:off x="7070252" y="2853101"/>
              <a:ext cx="2044251" cy="2259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baseline_pred = baseline.predict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X_test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lang="en-US" sz="700">
                <a:solidFill>
                  <a:srgbClr val="334052"/>
                </a:solidFill>
                <a:highlight>
                  <a:srgbClr val="F8FAFC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>
                <a:lnSpc>
                  <a:spcPct val="135000"/>
                </a:lnSpc>
              </a:pPr>
              <a:endParaRPr lang="en-US" sz="700">
                <a:solidFill>
                  <a:srgbClr val="334052"/>
                </a:solidFill>
                <a:highlight>
                  <a:srgbClr val="F8FAFC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baseline_rmse =  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mean_squared_error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   y_test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   baseline_pred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   squared=</a:t>
              </a:r>
              <a:r>
                <a:rPr lang="en-US" sz="700">
                  <a:solidFill>
                    <a:srgbClr val="07419D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False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</a:p>
            <a:p>
              <a:pPr lvl="0">
                <a:lnSpc>
                  <a:spcPct val="135000"/>
                </a:lnSpc>
              </a:pPr>
              <a:endParaRPr lang="en-US" sz="700">
                <a:solidFill>
                  <a:srgbClr val="334052"/>
                </a:solidFill>
                <a:highlight>
                  <a:srgbClr val="F8FAFC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07419D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print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BE123C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"Baseline RMSE (log scale):"</a:t>
              </a: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solidFill>
                    <a:srgbClr val="334052"/>
                  </a:solidFill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  baseline_rmse</a:t>
              </a:r>
            </a:p>
            <a:p>
              <a:pPr lvl="0">
                <a:lnSpc>
                  <a:spcPct val="135000"/>
                </a:lnSpc>
              </a:pPr>
              <a:r>
                <a:rPr lang="en-US" sz="700">
                  <a:highlight>
                    <a:srgbClr val="F8FAFC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lang="en-US" sz="700">
                <a:highlight>
                  <a:srgbClr val="F8FAFC"/>
                </a:highlight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AD1AAC0-3DF4-B233-8D4C-93C935C8678E}"/>
                </a:ext>
              </a:extLst>
            </p:cNvPr>
            <p:cNvSpPr/>
            <p:nvPr/>
          </p:nvSpPr>
          <p:spPr>
            <a:xfrm>
              <a:off x="7107123" y="2461140"/>
              <a:ext cx="1882019" cy="257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00" b="1"/>
                <a:t>Test Model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EFA8951-1355-4D9F-C668-CD97E323CEE2}"/>
                </a:ext>
              </a:extLst>
            </p:cNvPr>
            <p:cNvCxnSpPr>
              <a:cxnSpLocks/>
            </p:cNvCxnSpPr>
            <p:nvPr/>
          </p:nvCxnSpPr>
          <p:spPr>
            <a:xfrm>
              <a:off x="7289650" y="2505384"/>
              <a:ext cx="0" cy="368709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62DED0E-8B13-04D4-3DF2-70E180CCC868}"/>
                </a:ext>
              </a:extLst>
            </p:cNvPr>
            <p:cNvSpPr/>
            <p:nvPr/>
          </p:nvSpPr>
          <p:spPr>
            <a:xfrm>
              <a:off x="7177554" y="2509675"/>
              <a:ext cx="169607" cy="16223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" grpId="0"/>
      <p:bldP spid="50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9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&amp; Random Search </a:t>
            </a:r>
            <a:endParaRPr/>
          </a:p>
        </p:txBody>
      </p:sp>
      <p:grpSp>
        <p:nvGrpSpPr>
          <p:cNvPr id="516" name="Google Shape;516;p59"/>
          <p:cNvGrpSpPr/>
          <p:nvPr/>
        </p:nvGrpSpPr>
        <p:grpSpPr>
          <a:xfrm>
            <a:off x="7900499" y="1412900"/>
            <a:ext cx="791090" cy="860886"/>
            <a:chOff x="6219513" y="1474206"/>
            <a:chExt cx="890968" cy="969576"/>
          </a:xfrm>
        </p:grpSpPr>
        <p:sp>
          <p:nvSpPr>
            <p:cNvPr id="517" name="Google Shape;517;p59"/>
            <p:cNvSpPr/>
            <p:nvPr/>
          </p:nvSpPr>
          <p:spPr>
            <a:xfrm rot="7601881">
              <a:off x="6246394" y="1711809"/>
              <a:ext cx="837204" cy="487227"/>
            </a:xfrm>
            <a:custGeom>
              <a:avLst/>
              <a:gdLst/>
              <a:ahLst/>
              <a:cxnLst/>
              <a:rect l="l" t="t" r="r" b="b"/>
              <a:pathLst>
                <a:path w="33488" h="19489" extrusionOk="0">
                  <a:moveTo>
                    <a:pt x="0" y="5480"/>
                  </a:moveTo>
                  <a:cubicBezTo>
                    <a:pt x="4083" y="3995"/>
                    <a:pt x="8956" y="3778"/>
                    <a:pt x="13034" y="5280"/>
                  </a:cubicBezTo>
                  <a:cubicBezTo>
                    <a:pt x="17705" y="7000"/>
                    <a:pt x="22916" y="16554"/>
                    <a:pt x="18649" y="19116"/>
                  </a:cubicBezTo>
                  <a:cubicBezTo>
                    <a:pt x="14717" y="21477"/>
                    <a:pt x="11737" y="9928"/>
                    <a:pt x="14237" y="6082"/>
                  </a:cubicBezTo>
                  <a:cubicBezTo>
                    <a:pt x="17901" y="445"/>
                    <a:pt x="26769" y="-175"/>
                    <a:pt x="33488" y="6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8" name="Google Shape;518;p59"/>
            <p:cNvSpPr/>
            <p:nvPr/>
          </p:nvSpPr>
          <p:spPr>
            <a:xfrm>
              <a:off x="6564073" y="2301803"/>
              <a:ext cx="35119" cy="141979"/>
            </a:xfrm>
            <a:custGeom>
              <a:avLst/>
              <a:gdLst/>
              <a:ahLst/>
              <a:cxnLst/>
              <a:rect l="l" t="t" r="r" b="b"/>
              <a:pathLst>
                <a:path w="2012" h="8134" extrusionOk="0">
                  <a:moveTo>
                    <a:pt x="0" y="0"/>
                  </a:moveTo>
                  <a:cubicBezTo>
                    <a:pt x="763" y="2664"/>
                    <a:pt x="2740" y="5561"/>
                    <a:pt x="1713" y="8134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9" name="Google Shape;519;p59"/>
            <p:cNvSpPr/>
            <p:nvPr/>
          </p:nvSpPr>
          <p:spPr>
            <a:xfrm>
              <a:off x="6593941" y="2423774"/>
              <a:ext cx="144475" cy="17438"/>
            </a:xfrm>
            <a:custGeom>
              <a:avLst/>
              <a:gdLst/>
              <a:ahLst/>
              <a:cxnLst/>
              <a:rect l="l" t="t" r="r" b="b"/>
              <a:pathLst>
                <a:path w="8277" h="999" extrusionOk="0">
                  <a:moveTo>
                    <a:pt x="0" y="999"/>
                  </a:moveTo>
                  <a:cubicBezTo>
                    <a:pt x="2696" y="326"/>
                    <a:pt x="5498" y="0"/>
                    <a:pt x="827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525" name="Google Shape;525;p59" title="1_nZxiNjr4YTVgZRWfJ4G_FA.png"/>
          <p:cNvPicPr preferRelativeResize="0"/>
          <p:nvPr/>
        </p:nvPicPr>
        <p:blipFill rotWithShape="1">
          <a:blip r:embed="rId3">
            <a:alphaModFix/>
          </a:blip>
          <a:srcRect l="4208" t="11871" r="51446"/>
          <a:stretch/>
        </p:blipFill>
        <p:spPr>
          <a:xfrm>
            <a:off x="1272850" y="849425"/>
            <a:ext cx="1444574" cy="145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9" title="1_nZxiNjr4YTVgZRWfJ4G_FA.png"/>
          <p:cNvPicPr preferRelativeResize="0"/>
          <p:nvPr/>
        </p:nvPicPr>
        <p:blipFill rotWithShape="1">
          <a:blip r:embed="rId3">
            <a:alphaModFix/>
          </a:blip>
          <a:srcRect l="51712" t="13585" r="3942"/>
          <a:stretch/>
        </p:blipFill>
        <p:spPr>
          <a:xfrm>
            <a:off x="5700039" y="863497"/>
            <a:ext cx="1444574" cy="14234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5920A41-5DF8-AD3D-97E7-464B986BACB4}"/>
              </a:ext>
            </a:extLst>
          </p:cNvPr>
          <p:cNvGrpSpPr/>
          <p:nvPr/>
        </p:nvGrpSpPr>
        <p:grpSpPr>
          <a:xfrm>
            <a:off x="4524708" y="2677446"/>
            <a:ext cx="3975050" cy="2336651"/>
            <a:chOff x="4524708" y="2677446"/>
            <a:chExt cx="3975050" cy="233665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D847689-0177-C49C-989B-3D540810E94A}"/>
                </a:ext>
              </a:extLst>
            </p:cNvPr>
            <p:cNvSpPr/>
            <p:nvPr/>
          </p:nvSpPr>
          <p:spPr>
            <a:xfrm>
              <a:off x="4527158" y="2694573"/>
              <a:ext cx="3919500" cy="231952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F90E7F2-8322-5221-774C-EE3672CAAB3A}"/>
                </a:ext>
              </a:extLst>
            </p:cNvPr>
            <p:cNvSpPr/>
            <p:nvPr/>
          </p:nvSpPr>
          <p:spPr>
            <a:xfrm>
              <a:off x="4524708" y="2677446"/>
              <a:ext cx="3947275" cy="39978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B64EC6C-ADD4-FFC3-2805-A5C7B40BD58F}"/>
                </a:ext>
              </a:extLst>
            </p:cNvPr>
            <p:cNvSpPr txBox="1"/>
            <p:nvPr/>
          </p:nvSpPr>
          <p:spPr>
            <a:xfrm>
              <a:off x="4663362" y="3171872"/>
              <a:ext cx="38363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900">
                  <a:solidFill>
                    <a:schemeClr val="tx1"/>
                  </a:solidFill>
                </a:rPr>
                <a:t>Randomly selects values from each parameter.</a:t>
              </a:r>
            </a:p>
            <a:p>
              <a:pPr lvl="0"/>
              <a:r>
                <a:rPr lang="en-US" sz="900" b="1">
                  <a:solidFill>
                    <a:schemeClr val="tx1"/>
                  </a:solidFill>
                </a:rPr>
                <a:t>Pro: 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Value selection is not locked to a grid.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Runs a set number of trials.</a:t>
              </a:r>
            </a:p>
            <a:p>
              <a:pPr lvl="0"/>
              <a:r>
                <a:rPr lang="en-US" sz="900" b="1">
                  <a:solidFill>
                    <a:schemeClr val="tx1"/>
                  </a:solidFill>
                </a:rPr>
                <a:t>Cons: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No guarantee it will find the best solution.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Produces inconsistent results.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Wasteful for small models with few parameters</a:t>
              </a:r>
              <a:r>
                <a:rPr lang="en-US" sz="900"/>
                <a:t>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602BDE-CE36-FC26-B289-E73A45E04C1E}"/>
                </a:ext>
              </a:extLst>
            </p:cNvPr>
            <p:cNvSpPr txBox="1"/>
            <p:nvPr/>
          </p:nvSpPr>
          <p:spPr>
            <a:xfrm>
              <a:off x="4613657" y="2759946"/>
              <a:ext cx="13749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>
                  <a:latin typeface="Nunito Sans" pitchFamily="2" charset="0"/>
                </a:rPr>
                <a:t>Random Search: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97904C-76DB-F506-ED46-628C40FD4254}"/>
              </a:ext>
            </a:extLst>
          </p:cNvPr>
          <p:cNvGrpSpPr/>
          <p:nvPr/>
        </p:nvGrpSpPr>
        <p:grpSpPr>
          <a:xfrm>
            <a:off x="429569" y="2667614"/>
            <a:ext cx="3947275" cy="2329356"/>
            <a:chOff x="429569" y="2667614"/>
            <a:chExt cx="3947275" cy="232935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62A137F-94EA-C6C4-92C7-EC9056104DC1}"/>
                </a:ext>
              </a:extLst>
            </p:cNvPr>
            <p:cNvSpPr/>
            <p:nvPr/>
          </p:nvSpPr>
          <p:spPr>
            <a:xfrm>
              <a:off x="429569" y="2677446"/>
              <a:ext cx="3919500" cy="2319524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DFF6257-DD4F-1910-B9EE-F4C7518E4ECC}"/>
                </a:ext>
              </a:extLst>
            </p:cNvPr>
            <p:cNvSpPr/>
            <p:nvPr/>
          </p:nvSpPr>
          <p:spPr>
            <a:xfrm>
              <a:off x="429569" y="2667614"/>
              <a:ext cx="3947275" cy="39978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6709A5-C1B4-7A6A-9188-D8B6B692BF73}"/>
                </a:ext>
              </a:extLst>
            </p:cNvPr>
            <p:cNvSpPr txBox="1"/>
            <p:nvPr/>
          </p:nvSpPr>
          <p:spPr>
            <a:xfrm>
              <a:off x="540448" y="3256000"/>
              <a:ext cx="3836396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900">
                  <a:solidFill>
                    <a:schemeClr val="tx1"/>
                  </a:solidFill>
                </a:rPr>
                <a:t>Exhaustive / Brute-Force Tuning the evaluates every combination of values.</a:t>
              </a:r>
            </a:p>
            <a:p>
              <a:pPr lvl="0"/>
              <a:r>
                <a:rPr lang="en-US" sz="900" b="1">
                  <a:solidFill>
                    <a:schemeClr val="tx1"/>
                  </a:solidFill>
                </a:rPr>
                <a:t>Pro: 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Will find best result within grid.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Easy to use.</a:t>
              </a:r>
            </a:p>
            <a:p>
              <a:pPr lvl="0"/>
              <a:r>
                <a:rPr lang="en-US" sz="900" b="1">
                  <a:solidFill>
                    <a:schemeClr val="tx1"/>
                  </a:solidFill>
                </a:rPr>
                <a:t>Cons: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Slow and Expensive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Ineffective with higher-dimensional parameter spaces.</a:t>
              </a:r>
            </a:p>
            <a:p>
              <a:pPr marL="457200" lvl="0" indent="-292100">
                <a:buClr>
                  <a:schemeClr val="tx1"/>
                </a:buClr>
                <a:buSzPts val="10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Can only produce limited accuracy</a:t>
              </a:r>
            </a:p>
            <a:p>
              <a:pPr lvl="0"/>
              <a:endParaRPr lang="en-US" sz="900"/>
            </a:p>
            <a:p>
              <a:pPr marL="165100" lvl="0">
                <a:buClr>
                  <a:schemeClr val="tx1"/>
                </a:buClr>
                <a:buSzPts val="1000"/>
              </a:pPr>
              <a:r>
                <a:rPr lang="en-US" sz="900"/>
                <a:t>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BDCB1C-9A6F-AE85-074A-3158149C58BD}"/>
                </a:ext>
              </a:extLst>
            </p:cNvPr>
            <p:cNvSpPr txBox="1"/>
            <p:nvPr/>
          </p:nvSpPr>
          <p:spPr>
            <a:xfrm>
              <a:off x="518518" y="2764862"/>
              <a:ext cx="13749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>
                  <a:latin typeface="Nunito Sans" pitchFamily="2" charset="0"/>
                </a:rPr>
                <a:t>Grid Search: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0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Is Optuna?</a:t>
            </a:r>
            <a:endParaRPr sz="2800"/>
          </a:p>
        </p:txBody>
      </p:sp>
      <p:grpSp>
        <p:nvGrpSpPr>
          <p:cNvPr id="534" name="Google Shape;534;p60"/>
          <p:cNvGrpSpPr/>
          <p:nvPr/>
        </p:nvGrpSpPr>
        <p:grpSpPr>
          <a:xfrm>
            <a:off x="1800742" y="749143"/>
            <a:ext cx="1474049" cy="270489"/>
            <a:chOff x="308528" y="1555007"/>
            <a:chExt cx="1986589" cy="270489"/>
          </a:xfrm>
        </p:grpSpPr>
        <p:sp>
          <p:nvSpPr>
            <p:cNvPr id="535" name="Google Shape;535;p60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avLst/>
              <a:gdLst/>
              <a:ahLst/>
              <a:cxnLst/>
              <a:rect l="l" t="t" r="r" b="b"/>
              <a:pathLst>
                <a:path w="255178" h="5168" fill="none" extrusionOk="0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36" name="Google Shape;536;p60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avLst/>
              <a:gdLst/>
              <a:ahLst/>
              <a:cxnLst/>
              <a:rect l="l" t="t" r="r" b="b"/>
              <a:pathLst>
                <a:path w="255178" h="5168" fill="none" extrusionOk="0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37" name="Google Shape;537;p60"/>
          <p:cNvSpPr txBox="1">
            <a:spLocks noGrp="1"/>
          </p:cNvSpPr>
          <p:nvPr>
            <p:ph type="subTitle" idx="9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3D311E0-DD96-9B12-9728-7B810A00FB67}"/>
              </a:ext>
            </a:extLst>
          </p:cNvPr>
          <p:cNvGrpSpPr/>
          <p:nvPr/>
        </p:nvGrpSpPr>
        <p:grpSpPr>
          <a:xfrm>
            <a:off x="5629812" y="1039823"/>
            <a:ext cx="3045429" cy="3386329"/>
            <a:chOff x="5629812" y="1039823"/>
            <a:chExt cx="3045429" cy="338632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E947C1-FB1D-7689-DBF3-F12CA7AF2B18}"/>
                </a:ext>
              </a:extLst>
            </p:cNvPr>
            <p:cNvGrpSpPr/>
            <p:nvPr/>
          </p:nvGrpSpPr>
          <p:grpSpPr>
            <a:xfrm>
              <a:off x="5637308" y="1039823"/>
              <a:ext cx="3037933" cy="1517114"/>
              <a:chOff x="5637308" y="1039823"/>
              <a:chExt cx="3037933" cy="1517114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7DE7CF6D-5F7B-4FBB-E2D3-809472CB94DE}"/>
                  </a:ext>
                </a:extLst>
              </p:cNvPr>
              <p:cNvSpPr/>
              <p:nvPr/>
            </p:nvSpPr>
            <p:spPr>
              <a:xfrm>
                <a:off x="5637308" y="1110991"/>
                <a:ext cx="3021501" cy="1445946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/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D835E63B-20AD-F1F8-23D9-1DF31979356C}"/>
                  </a:ext>
                </a:extLst>
              </p:cNvPr>
              <p:cNvSpPr/>
              <p:nvPr/>
            </p:nvSpPr>
            <p:spPr>
              <a:xfrm>
                <a:off x="5637308" y="1039823"/>
                <a:ext cx="3037933" cy="328449"/>
              </a:xfrm>
              <a:prstGeom prst="roundRect">
                <a:avLst>
                  <a:gd name="adj" fmla="val 50000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7654FA-3E47-05AF-B575-2AFE9FB420DA}"/>
                  </a:ext>
                </a:extLst>
              </p:cNvPr>
              <p:cNvSpPr txBox="1"/>
              <p:nvPr/>
            </p:nvSpPr>
            <p:spPr>
              <a:xfrm>
                <a:off x="5652543" y="1416570"/>
                <a:ext cx="2921831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285750">
                  <a:buClr>
                    <a:schemeClr val="tx1"/>
                  </a:buClr>
                  <a:buSzPts val="900"/>
                  <a:buChar char="●"/>
                </a:pPr>
                <a:r>
                  <a:rPr lang="en-US" sz="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Will find best results with few interactions then Grid or Random Search.</a:t>
                </a:r>
              </a:p>
              <a:p>
                <a:pPr marL="457200" lvl="0" indent="-285750">
                  <a:buClr>
                    <a:schemeClr val="tx1"/>
                  </a:buClr>
                  <a:buSzPts val="900"/>
                  <a:buChar char="●"/>
                </a:pPr>
                <a:r>
                  <a:rPr lang="en-US" sz="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Can automatically stop bad trials.</a:t>
                </a:r>
              </a:p>
              <a:p>
                <a:pPr marL="457200" lvl="0" indent="-285750">
                  <a:buClr>
                    <a:schemeClr val="tx1"/>
                  </a:buClr>
                  <a:buSzPts val="900"/>
                  <a:buChar char="●"/>
                </a:pPr>
                <a:r>
                  <a:rPr lang="en-US" sz="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Can be used with Neural Networks, XGBoost, you name it. </a:t>
                </a:r>
              </a:p>
              <a:p>
                <a:pPr marL="457200" lvl="0" indent="-285750">
                  <a:buClr>
                    <a:schemeClr val="tx1"/>
                  </a:buClr>
                  <a:buSzPts val="900"/>
                  <a:buChar char="●"/>
                </a:pPr>
                <a:r>
                  <a:rPr lang="en-US" sz="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Come with easy to use out of the box visualizations.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E2D18C-90C0-A63F-36EC-5EF99DE3F7D6}"/>
                  </a:ext>
                </a:extLst>
              </p:cNvPr>
              <p:cNvSpPr txBox="1"/>
              <p:nvPr/>
            </p:nvSpPr>
            <p:spPr>
              <a:xfrm>
                <a:off x="5712727" y="1088631"/>
                <a:ext cx="1079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>
                    <a:latin typeface="Nunito Sans" pitchFamily="2" charset="0"/>
                  </a:rPr>
                  <a:t>Pros:</a:t>
                </a:r>
              </a:p>
            </p:txBody>
          </p:sp>
        </p:grp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B0C4F86-DF2E-4491-284E-E496A7ADD941}"/>
                </a:ext>
              </a:extLst>
            </p:cNvPr>
            <p:cNvSpPr/>
            <p:nvPr/>
          </p:nvSpPr>
          <p:spPr>
            <a:xfrm>
              <a:off x="5634809" y="3142152"/>
              <a:ext cx="3024000" cy="1284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09C7D4F-D39A-D563-64DD-00D60A6DB346}"/>
                </a:ext>
              </a:extLst>
            </p:cNvPr>
            <p:cNvSpPr/>
            <p:nvPr/>
          </p:nvSpPr>
          <p:spPr>
            <a:xfrm>
              <a:off x="5629812" y="3070984"/>
              <a:ext cx="3045429" cy="32844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36A037-23B1-5ACE-77B5-0FB17A159D40}"/>
                </a:ext>
              </a:extLst>
            </p:cNvPr>
            <p:cNvSpPr txBox="1"/>
            <p:nvPr/>
          </p:nvSpPr>
          <p:spPr>
            <a:xfrm>
              <a:off x="5650044" y="3447731"/>
              <a:ext cx="292433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0" indent="-285750">
                <a:buClr>
                  <a:schemeClr val="tx1"/>
                </a:buClr>
                <a:buSzPts val="9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Takes longer to set up then Grid or Random Search.</a:t>
              </a:r>
            </a:p>
            <a:p>
              <a:pPr marL="457200" lvl="0" indent="-285750">
                <a:buClr>
                  <a:schemeClr val="tx1"/>
                </a:buClr>
                <a:buSzPts val="9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A little overkill for small datasets where Random could be a better fit. </a:t>
              </a:r>
            </a:p>
            <a:p>
              <a:pPr marL="457200" lvl="0" indent="-285750">
                <a:buClr>
                  <a:schemeClr val="tx1"/>
                </a:buClr>
                <a:buSzPts val="900"/>
                <a:buChar char="●"/>
              </a:pPr>
              <a:r>
                <a:rPr lang="en-US" sz="900">
                  <a:solidFill>
                    <a:schemeClr val="tx1"/>
                  </a:solidFill>
                </a:rPr>
                <a:t>Still produces a little randomization in its results.</a:t>
              </a:r>
              <a:endParaRPr lang="en-US" sz="900">
                <a:solidFill>
                  <a:schemeClr val="tx1"/>
                </a:solidFill>
                <a:latin typeface="Nunito Sans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C096B6-1CA6-5297-2C5E-1734737ECA78}"/>
                </a:ext>
              </a:extLst>
            </p:cNvPr>
            <p:cNvSpPr txBox="1"/>
            <p:nvPr/>
          </p:nvSpPr>
          <p:spPr>
            <a:xfrm>
              <a:off x="5710228" y="3119792"/>
              <a:ext cx="1079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>
                  <a:latin typeface="Nunito Sans" pitchFamily="2" charset="0"/>
                </a:rPr>
                <a:t>Cons: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BD2EB25-E37B-94CF-F384-5704D829EE9D}"/>
              </a:ext>
            </a:extLst>
          </p:cNvPr>
          <p:cNvGrpSpPr/>
          <p:nvPr/>
        </p:nvGrpSpPr>
        <p:grpSpPr>
          <a:xfrm>
            <a:off x="243748" y="2548125"/>
            <a:ext cx="4836436" cy="1004861"/>
            <a:chOff x="243748" y="2530428"/>
            <a:chExt cx="4836436" cy="100486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851DE97-693C-9758-DFCC-6814C8D1F296}"/>
                </a:ext>
              </a:extLst>
            </p:cNvPr>
            <p:cNvSpPr/>
            <p:nvPr/>
          </p:nvSpPr>
          <p:spPr>
            <a:xfrm>
              <a:off x="258351" y="3206840"/>
              <a:ext cx="1201994" cy="32844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US" sz="800">
                  <a:latin typeface="Poppins SemiBold" panose="00000700000000000000" pitchFamily="2" charset="0"/>
                  <a:cs typeface="Poppins SemiBold" panose="00000700000000000000" pitchFamily="2" charset="0"/>
                </a:rPr>
                <a:t>Tree-structured Parrzen Estimator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8136586-5A58-6DBB-8964-816E7E367835}"/>
                </a:ext>
              </a:extLst>
            </p:cNvPr>
            <p:cNvSpPr/>
            <p:nvPr/>
          </p:nvSpPr>
          <p:spPr>
            <a:xfrm>
              <a:off x="243748" y="2535966"/>
              <a:ext cx="1201994" cy="32844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US" sz="800">
                  <a:latin typeface="Poppins SemiBold" panose="00000700000000000000" pitchFamily="2" charset="0"/>
                  <a:cs typeface="Poppins SemiBold" panose="00000700000000000000" pitchFamily="2" charset="0"/>
                </a:rPr>
                <a:t>Bayesian Optimization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59F380B-9CC9-7227-E82C-505650783FD2}"/>
                </a:ext>
              </a:extLst>
            </p:cNvPr>
            <p:cNvSpPr txBox="1"/>
            <p:nvPr/>
          </p:nvSpPr>
          <p:spPr>
            <a:xfrm>
              <a:off x="1520058" y="3165957"/>
              <a:ext cx="306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specific </a:t>
              </a:r>
              <a:r>
                <a:rPr lang="en-US" sz="9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Algorithm</a:t>
              </a:r>
              <a:r>
                <a:rPr lang="en-US" sz="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Optuna uses to implement Bayesian Optimization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3EC8E8B-E34D-8AED-6495-817FD2A9AF5F}"/>
                </a:ext>
              </a:extLst>
            </p:cNvPr>
            <p:cNvSpPr txBox="1"/>
            <p:nvPr/>
          </p:nvSpPr>
          <p:spPr>
            <a:xfrm>
              <a:off x="1552648" y="2530428"/>
              <a:ext cx="3527536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06000"/>
                </a:lnSpc>
              </a:pPr>
              <a:r>
                <a:rPr lang="en-US" sz="900">
                  <a:solidFill>
                    <a:schemeClr val="tx1"/>
                  </a:solidFill>
                </a:rPr>
                <a:t>An</a:t>
              </a:r>
              <a:r>
                <a:rPr lang="en-US" sz="900" b="1">
                  <a:solidFill>
                    <a:schemeClr val="tx1"/>
                  </a:solidFill>
                </a:rPr>
                <a:t> </a:t>
              </a:r>
              <a:r>
                <a:rPr lang="en-US" sz="900" b="1">
                  <a:solidFill>
                    <a:schemeClr val="accent1"/>
                  </a:solidFill>
                </a:rPr>
                <a:t>Optimization Strategy</a:t>
              </a:r>
              <a:r>
                <a:rPr lang="en-US" sz="900">
                  <a:solidFill>
                    <a:schemeClr val="accent1"/>
                  </a:solidFill>
                </a:rPr>
                <a:t> </a:t>
              </a:r>
              <a:r>
                <a:rPr lang="en-US" sz="900">
                  <a:solidFill>
                    <a:schemeClr val="tx1"/>
                  </a:solidFill>
                </a:rPr>
                <a:t>that uses previous trials results to inform the behavior of future trials. This is not code.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0E6C24F-D283-795A-AEB1-3C545BDB10D9}"/>
              </a:ext>
            </a:extLst>
          </p:cNvPr>
          <p:cNvSpPr txBox="1"/>
          <p:nvPr/>
        </p:nvSpPr>
        <p:spPr>
          <a:xfrm>
            <a:off x="2463954" y="1965181"/>
            <a:ext cx="1219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4E1A1B-03E2-08D4-DD70-6ABA801DDAC8}"/>
              </a:ext>
            </a:extLst>
          </p:cNvPr>
          <p:cNvSpPr txBox="1"/>
          <p:nvPr/>
        </p:nvSpPr>
        <p:spPr>
          <a:xfrm>
            <a:off x="1541819" y="1267840"/>
            <a:ext cx="3349729" cy="522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6000"/>
              </a:lnSpc>
            </a:pPr>
            <a:r>
              <a:rPr lang="en-US" sz="900">
                <a:solidFill>
                  <a:schemeClr val="tx1"/>
                </a:solidFill>
              </a:rPr>
              <a:t>A hyperparameter tuning library that </a:t>
            </a:r>
            <a:r>
              <a:rPr lang="en-US" sz="900">
                <a:solidFill>
                  <a:schemeClr val="accent1"/>
                </a:solidFill>
              </a:rPr>
              <a:t>uses</a:t>
            </a:r>
            <a:r>
              <a:rPr lang="en-US" sz="900" b="1">
                <a:solidFill>
                  <a:schemeClr val="accent1"/>
                </a:solidFill>
              </a:rPr>
              <a:t> Bayesian Optimization</a:t>
            </a:r>
            <a:r>
              <a:rPr lang="en-US" sz="900">
                <a:solidFill>
                  <a:schemeClr val="tx1"/>
                </a:solidFill>
              </a:rPr>
              <a:t> by implementing </a:t>
            </a:r>
            <a:r>
              <a:rPr lang="en-US" sz="900" b="1">
                <a:solidFill>
                  <a:schemeClr val="accent1"/>
                </a:solidFill>
              </a:rPr>
              <a:t>Tree-structured Parzen Estimator</a:t>
            </a:r>
            <a:r>
              <a:rPr lang="en-US" sz="900">
                <a:solidFill>
                  <a:schemeClr val="accent1"/>
                </a:solidFill>
              </a:rPr>
              <a:t>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42FD881-77BE-256C-E353-9F88436CAF2F}"/>
              </a:ext>
            </a:extLst>
          </p:cNvPr>
          <p:cNvGrpSpPr/>
          <p:nvPr/>
        </p:nvGrpSpPr>
        <p:grpSpPr>
          <a:xfrm>
            <a:off x="228600" y="1366615"/>
            <a:ext cx="1246348" cy="347400"/>
            <a:chOff x="228600" y="1366615"/>
            <a:chExt cx="1246348" cy="347400"/>
          </a:xfrm>
        </p:grpSpPr>
        <p:sp>
          <p:nvSpPr>
            <p:cNvPr id="44" name="Google Shape;541;p60">
              <a:extLst>
                <a:ext uri="{FF2B5EF4-FFF2-40B4-BE49-F238E27FC236}">
                  <a16:creationId xmlns:a16="http://schemas.microsoft.com/office/drawing/2014/main" id="{6949CF5E-8915-E047-0126-2CD018267247}"/>
                </a:ext>
              </a:extLst>
            </p:cNvPr>
            <p:cNvSpPr txBox="1">
              <a:spLocks/>
            </p:cNvSpPr>
            <p:nvPr/>
          </p:nvSpPr>
          <p:spPr>
            <a:xfrm>
              <a:off x="243748" y="1366615"/>
              <a:ext cx="12312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0" rIns="182875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900"/>
                <a:buFont typeface="Poppins SemiBold"/>
                <a:buNone/>
                <a:defRPr sz="900" b="0" i="0" u="none" strike="noStrike" cap="non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lvl9pPr>
            </a:lstStyle>
            <a:p>
              <a:pPr marL="0" indent="0"/>
              <a:r>
                <a:rPr lang="en-US"/>
                <a:t>Bayesian Optimization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D1E1A10C-25C3-15FA-0EF4-6C87FCC4B850}"/>
                </a:ext>
              </a:extLst>
            </p:cNvPr>
            <p:cNvSpPr/>
            <p:nvPr/>
          </p:nvSpPr>
          <p:spPr>
            <a:xfrm>
              <a:off x="228600" y="1368225"/>
              <a:ext cx="1201994" cy="32844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US" sz="800">
                  <a:latin typeface="Poppins SemiBold" panose="00000700000000000000" pitchFamily="2" charset="0"/>
                  <a:cs typeface="Poppins SemiBold" panose="00000700000000000000" pitchFamily="2" charset="0"/>
                </a:rPr>
                <a:t>Optuna is: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/>
          <p:cNvSpPr/>
          <p:nvPr/>
        </p:nvSpPr>
        <p:spPr>
          <a:xfrm rot="5400000">
            <a:off x="-4589993" y="-4736405"/>
            <a:ext cx="8937666" cy="10431780"/>
          </a:xfrm>
          <a:prstGeom prst="arc">
            <a:avLst>
              <a:gd name="adj1" fmla="val 16200000"/>
              <a:gd name="adj2" fmla="val 21596259"/>
            </a:avLst>
          </a:prstGeom>
          <a:noFill/>
          <a:ln w="259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825" tIns="124825" rIns="124825" bIns="124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59" name="Google Shape;559;p61"/>
          <p:cNvSpPr txBox="1">
            <a:spLocks noGrp="1"/>
          </p:cNvSpPr>
          <p:nvPr>
            <p:ph type="title"/>
          </p:nvPr>
        </p:nvSpPr>
        <p:spPr>
          <a:xfrm>
            <a:off x="250249" y="256925"/>
            <a:ext cx="384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Optuna Structure</a:t>
            </a:r>
            <a:endParaRPr/>
          </a:p>
        </p:txBody>
      </p:sp>
      <p:grpSp>
        <p:nvGrpSpPr>
          <p:cNvPr id="561" name="Google Shape;561;p61"/>
          <p:cNvGrpSpPr/>
          <p:nvPr/>
        </p:nvGrpSpPr>
        <p:grpSpPr>
          <a:xfrm>
            <a:off x="396429" y="672990"/>
            <a:ext cx="1605959" cy="270489"/>
            <a:chOff x="308528" y="1555007"/>
            <a:chExt cx="1986589" cy="270489"/>
          </a:xfrm>
        </p:grpSpPr>
        <p:sp>
          <p:nvSpPr>
            <p:cNvPr id="562" name="Google Shape;562;p61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avLst/>
              <a:gdLst/>
              <a:ahLst/>
              <a:cxnLst/>
              <a:rect l="l" t="t" r="r" b="b"/>
              <a:pathLst>
                <a:path w="255178" h="5168" fill="none" extrusionOk="0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63" name="Google Shape;563;p61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avLst/>
              <a:gdLst/>
              <a:ahLst/>
              <a:cxnLst/>
              <a:rect l="l" t="t" r="r" b="b"/>
              <a:pathLst>
                <a:path w="255178" h="5168" fill="none" extrusionOk="0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64" name="Google Shape;564;p61"/>
          <p:cNvSpPr/>
          <p:nvPr/>
        </p:nvSpPr>
        <p:spPr>
          <a:xfrm>
            <a:off x="5021144" y="384117"/>
            <a:ext cx="130651" cy="106864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4825" tIns="124825" rIns="124825" bIns="124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11"/>
          </a:p>
        </p:txBody>
      </p:sp>
      <p:grpSp>
        <p:nvGrpSpPr>
          <p:cNvPr id="565" name="Google Shape;565;p61"/>
          <p:cNvGrpSpPr/>
          <p:nvPr/>
        </p:nvGrpSpPr>
        <p:grpSpPr>
          <a:xfrm flipH="1">
            <a:off x="7709236" y="-3989345"/>
            <a:ext cx="7702577" cy="8937666"/>
            <a:chOff x="2105019" y="-2246866"/>
            <a:chExt cx="5359060" cy="6548700"/>
          </a:xfrm>
        </p:grpSpPr>
        <p:sp>
          <p:nvSpPr>
            <p:cNvPr id="566" name="Google Shape;566;p61"/>
            <p:cNvSpPr/>
            <p:nvPr/>
          </p:nvSpPr>
          <p:spPr>
            <a:xfrm rot="5400000">
              <a:off x="1487919" y="-1629766"/>
              <a:ext cx="6548700" cy="5314500"/>
            </a:xfrm>
            <a:prstGeom prst="arc">
              <a:avLst>
                <a:gd name="adj1" fmla="val 16200000"/>
                <a:gd name="adj2" fmla="val 21596259"/>
              </a:avLst>
            </a:prstGeom>
            <a:noFill/>
            <a:ln w="259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4825" tIns="124825" rIns="124825" bIns="124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1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67" name="Google Shape;567;p61"/>
            <p:cNvSpPr/>
            <p:nvPr/>
          </p:nvSpPr>
          <p:spPr>
            <a:xfrm>
              <a:off x="7373180" y="957606"/>
              <a:ext cx="90900" cy="783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4825" tIns="124825" rIns="124825" bIns="124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11"/>
            </a:p>
          </p:txBody>
        </p:sp>
      </p:grpSp>
      <p:grpSp>
        <p:nvGrpSpPr>
          <p:cNvPr id="568" name="Google Shape;568;p61"/>
          <p:cNvGrpSpPr/>
          <p:nvPr/>
        </p:nvGrpSpPr>
        <p:grpSpPr>
          <a:xfrm>
            <a:off x="3547933" y="285549"/>
            <a:ext cx="543525" cy="265250"/>
            <a:chOff x="3195113" y="380063"/>
            <a:chExt cx="543525" cy="265250"/>
          </a:xfrm>
        </p:grpSpPr>
        <p:cxnSp>
          <p:nvCxnSpPr>
            <p:cNvPr id="569" name="Google Shape;569;p61"/>
            <p:cNvCxnSpPr/>
            <p:nvPr/>
          </p:nvCxnSpPr>
          <p:spPr>
            <a:xfrm rot="10800000" flipH="1">
              <a:off x="3195113" y="380063"/>
              <a:ext cx="208200" cy="1416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61"/>
            <p:cNvCxnSpPr/>
            <p:nvPr/>
          </p:nvCxnSpPr>
          <p:spPr>
            <a:xfrm rot="10800000" flipH="1">
              <a:off x="3211238" y="435525"/>
              <a:ext cx="527400" cy="1452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1" name="Google Shape;571;p61"/>
            <p:cNvCxnSpPr/>
            <p:nvPr/>
          </p:nvCxnSpPr>
          <p:spPr>
            <a:xfrm rot="10800000" flipH="1">
              <a:off x="3232763" y="634513"/>
              <a:ext cx="258300" cy="108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5" name="Google Shape;575;p61"/>
          <p:cNvSpPr txBox="1">
            <a:spLocks noGrp="1"/>
          </p:cNvSpPr>
          <p:nvPr>
            <p:ph type="subTitle" idx="4294967295"/>
          </p:nvPr>
        </p:nvSpPr>
        <p:spPr>
          <a:xfrm>
            <a:off x="315130" y="1267111"/>
            <a:ext cx="1892100" cy="3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Objective Function</a:t>
            </a:r>
            <a:endParaRPr sz="12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6" name="Google Shape;576;p61"/>
          <p:cNvSpPr txBox="1">
            <a:spLocks noGrp="1"/>
          </p:cNvSpPr>
          <p:nvPr>
            <p:ph type="subTitle" idx="4294967295"/>
          </p:nvPr>
        </p:nvSpPr>
        <p:spPr>
          <a:xfrm>
            <a:off x="338747" y="2247282"/>
            <a:ext cx="1312500" cy="3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Study</a:t>
            </a:r>
            <a:endParaRPr sz="12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7" name="Google Shape;577;p61"/>
          <p:cNvSpPr txBox="1">
            <a:spLocks noGrp="1"/>
          </p:cNvSpPr>
          <p:nvPr>
            <p:ph type="subTitle" idx="4294967295"/>
          </p:nvPr>
        </p:nvSpPr>
        <p:spPr>
          <a:xfrm>
            <a:off x="353171" y="3178046"/>
            <a:ext cx="1312500" cy="3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Trial</a:t>
            </a:r>
            <a:endParaRPr sz="12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8" name="Google Shape;578;p61"/>
          <p:cNvSpPr txBox="1">
            <a:spLocks noGrp="1"/>
          </p:cNvSpPr>
          <p:nvPr>
            <p:ph type="body" idx="4294967295"/>
          </p:nvPr>
        </p:nvSpPr>
        <p:spPr>
          <a:xfrm>
            <a:off x="324295" y="2715109"/>
            <a:ext cx="2458500" cy="2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Variable that hold the results of each trial.</a:t>
            </a:r>
            <a:endParaRPr/>
          </a:p>
        </p:txBody>
      </p:sp>
      <p:sp>
        <p:nvSpPr>
          <p:cNvPr id="579" name="Google Shape;579;p61"/>
          <p:cNvSpPr txBox="1">
            <a:spLocks noGrp="1"/>
          </p:cNvSpPr>
          <p:nvPr>
            <p:ph type="body" idx="1"/>
          </p:nvPr>
        </p:nvSpPr>
        <p:spPr>
          <a:xfrm>
            <a:off x="300815" y="3591448"/>
            <a:ext cx="26844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How many times the model should be tuned to find the best results.</a:t>
            </a:r>
            <a:endParaRPr sz="1200"/>
          </a:p>
        </p:txBody>
      </p:sp>
      <p:sp>
        <p:nvSpPr>
          <p:cNvPr id="580" name="Google Shape;580;p61"/>
          <p:cNvSpPr txBox="1">
            <a:spLocks noGrp="1"/>
          </p:cNvSpPr>
          <p:nvPr>
            <p:ph type="body" idx="4294967295"/>
          </p:nvPr>
        </p:nvSpPr>
        <p:spPr>
          <a:xfrm>
            <a:off x="322360" y="1642740"/>
            <a:ext cx="26844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Where the tuning method is defined and the tuning takes place.</a:t>
            </a:r>
            <a:endParaRPr/>
          </a:p>
        </p:txBody>
      </p:sp>
      <p:grpSp>
        <p:nvGrpSpPr>
          <p:cNvPr id="581" name="Google Shape;581;p61"/>
          <p:cNvGrpSpPr/>
          <p:nvPr/>
        </p:nvGrpSpPr>
        <p:grpSpPr>
          <a:xfrm>
            <a:off x="2733473" y="898701"/>
            <a:ext cx="659673" cy="717874"/>
            <a:chOff x="6219513" y="1474206"/>
            <a:chExt cx="890968" cy="969576"/>
          </a:xfrm>
        </p:grpSpPr>
        <p:sp>
          <p:nvSpPr>
            <p:cNvPr id="582" name="Google Shape;582;p61"/>
            <p:cNvSpPr/>
            <p:nvPr/>
          </p:nvSpPr>
          <p:spPr>
            <a:xfrm rot="7601881">
              <a:off x="6246394" y="1711809"/>
              <a:ext cx="837204" cy="487227"/>
            </a:xfrm>
            <a:custGeom>
              <a:avLst/>
              <a:gdLst/>
              <a:ahLst/>
              <a:cxnLst/>
              <a:rect l="l" t="t" r="r" b="b"/>
              <a:pathLst>
                <a:path w="33488" h="19489" extrusionOk="0">
                  <a:moveTo>
                    <a:pt x="0" y="5480"/>
                  </a:moveTo>
                  <a:cubicBezTo>
                    <a:pt x="4083" y="3995"/>
                    <a:pt x="8956" y="3778"/>
                    <a:pt x="13034" y="5280"/>
                  </a:cubicBezTo>
                  <a:cubicBezTo>
                    <a:pt x="17705" y="7000"/>
                    <a:pt x="22916" y="16554"/>
                    <a:pt x="18649" y="19116"/>
                  </a:cubicBezTo>
                  <a:cubicBezTo>
                    <a:pt x="14717" y="21477"/>
                    <a:pt x="11737" y="9928"/>
                    <a:pt x="14237" y="6082"/>
                  </a:cubicBezTo>
                  <a:cubicBezTo>
                    <a:pt x="17901" y="445"/>
                    <a:pt x="26769" y="-175"/>
                    <a:pt x="33488" y="66"/>
                  </a:cubicBezTo>
                </a:path>
              </a:pathLst>
            </a:custGeom>
            <a:noFill/>
            <a:ln w="14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" name="Google Shape;583;p61"/>
            <p:cNvSpPr/>
            <p:nvPr/>
          </p:nvSpPr>
          <p:spPr>
            <a:xfrm>
              <a:off x="6568876" y="2301803"/>
              <a:ext cx="35119" cy="141979"/>
            </a:xfrm>
            <a:custGeom>
              <a:avLst/>
              <a:gdLst/>
              <a:ahLst/>
              <a:cxnLst/>
              <a:rect l="l" t="t" r="r" b="b"/>
              <a:pathLst>
                <a:path w="2012" h="8134" extrusionOk="0">
                  <a:moveTo>
                    <a:pt x="0" y="0"/>
                  </a:moveTo>
                  <a:cubicBezTo>
                    <a:pt x="763" y="2664"/>
                    <a:pt x="2740" y="5561"/>
                    <a:pt x="1713" y="8134"/>
                  </a:cubicBezTo>
                </a:path>
              </a:pathLst>
            </a:custGeom>
            <a:noFill/>
            <a:ln w="14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4" name="Google Shape;584;p61"/>
            <p:cNvSpPr/>
            <p:nvPr/>
          </p:nvSpPr>
          <p:spPr>
            <a:xfrm>
              <a:off x="6589138" y="2423774"/>
              <a:ext cx="144475" cy="17438"/>
            </a:xfrm>
            <a:custGeom>
              <a:avLst/>
              <a:gdLst/>
              <a:ahLst/>
              <a:cxnLst/>
              <a:rect l="l" t="t" r="r" b="b"/>
              <a:pathLst>
                <a:path w="8277" h="999" extrusionOk="0">
                  <a:moveTo>
                    <a:pt x="0" y="999"/>
                  </a:moveTo>
                  <a:cubicBezTo>
                    <a:pt x="2696" y="326"/>
                    <a:pt x="5498" y="0"/>
                    <a:pt x="8277" y="0"/>
                  </a:cubicBezTo>
                </a:path>
              </a:pathLst>
            </a:custGeom>
            <a:noFill/>
            <a:ln w="14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94" name="Google Shape;594;p61"/>
          <p:cNvSpPr txBox="1">
            <a:spLocks noGrp="1"/>
          </p:cNvSpPr>
          <p:nvPr>
            <p:ph type="title"/>
          </p:nvPr>
        </p:nvSpPr>
        <p:spPr>
          <a:xfrm>
            <a:off x="300825" y="898725"/>
            <a:ext cx="22923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Major Components</a:t>
            </a:r>
            <a:endParaRPr sz="1600">
              <a:solidFill>
                <a:schemeClr val="accent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2A9307-D0F3-CC23-AC4E-4BC2E4EEB9DA}"/>
              </a:ext>
            </a:extLst>
          </p:cNvPr>
          <p:cNvGrpSpPr/>
          <p:nvPr/>
        </p:nvGrpSpPr>
        <p:grpSpPr>
          <a:xfrm>
            <a:off x="5038513" y="910597"/>
            <a:ext cx="2685493" cy="3674188"/>
            <a:chOff x="5038513" y="910597"/>
            <a:chExt cx="2685493" cy="3674188"/>
          </a:xfrm>
        </p:grpSpPr>
        <p:sp>
          <p:nvSpPr>
            <p:cNvPr id="588" name="Google Shape;588;p61"/>
            <p:cNvSpPr txBox="1"/>
            <p:nvPr/>
          </p:nvSpPr>
          <p:spPr>
            <a:xfrm>
              <a:off x="5858321" y="4239554"/>
              <a:ext cx="578100" cy="31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Call Method</a:t>
              </a:r>
              <a:endParaRPr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89" name="Google Shape;589;p61"/>
            <p:cNvSpPr txBox="1"/>
            <p:nvPr/>
          </p:nvSpPr>
          <p:spPr>
            <a:xfrm>
              <a:off x="5700092" y="4234529"/>
              <a:ext cx="303000" cy="31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=</a:t>
              </a:r>
              <a:endParaRPr sz="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21A1DD8-8A8E-31AC-8C57-235A149DEB66}"/>
                </a:ext>
              </a:extLst>
            </p:cNvPr>
            <p:cNvSpPr/>
            <p:nvPr/>
          </p:nvSpPr>
          <p:spPr>
            <a:xfrm>
              <a:off x="5130425" y="1405163"/>
              <a:ext cx="2571046" cy="2665106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99072CE-E679-8D53-B2AC-AFEFB062F99D}"/>
                </a:ext>
              </a:extLst>
            </p:cNvPr>
            <p:cNvSpPr/>
            <p:nvPr/>
          </p:nvSpPr>
          <p:spPr>
            <a:xfrm>
              <a:off x="5125428" y="1363493"/>
              <a:ext cx="2589265" cy="448813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C49C56-9E0A-70B1-3D77-08556D1BF51C}"/>
                </a:ext>
              </a:extLst>
            </p:cNvPr>
            <p:cNvSpPr txBox="1"/>
            <p:nvPr/>
          </p:nvSpPr>
          <p:spPr>
            <a:xfrm>
              <a:off x="5217503" y="1434885"/>
              <a:ext cx="19115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/>
                <a:t>Objective Function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C4C8ECF-0440-2124-7854-A9BFD7711B1C}"/>
                </a:ext>
              </a:extLst>
            </p:cNvPr>
            <p:cNvSpPr/>
            <p:nvPr/>
          </p:nvSpPr>
          <p:spPr>
            <a:xfrm>
              <a:off x="5295071" y="1910762"/>
              <a:ext cx="1120877" cy="39550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b="1"/>
                <a:t>Build Model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51016CE-EDD5-B46D-1150-3B4ABEBBAE40}"/>
                </a:ext>
              </a:extLst>
            </p:cNvPr>
            <p:cNvSpPr/>
            <p:nvPr/>
          </p:nvSpPr>
          <p:spPr>
            <a:xfrm>
              <a:off x="5612828" y="2416237"/>
              <a:ext cx="1120877" cy="3781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b="1"/>
                <a:t>Fit Model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14E4CB4-A7C7-455D-2813-9F67676B8C30}"/>
                </a:ext>
              </a:extLst>
            </p:cNvPr>
            <p:cNvSpPr/>
            <p:nvPr/>
          </p:nvSpPr>
          <p:spPr>
            <a:xfrm>
              <a:off x="5914417" y="2884760"/>
              <a:ext cx="1120877" cy="3781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b="1"/>
                <a:t>Evaluate Model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35F9293-77DF-A9BB-77F3-465EC34FD076}"/>
                </a:ext>
              </a:extLst>
            </p:cNvPr>
            <p:cNvSpPr/>
            <p:nvPr/>
          </p:nvSpPr>
          <p:spPr>
            <a:xfrm>
              <a:off x="6330936" y="3353283"/>
              <a:ext cx="1120877" cy="3781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b="1"/>
                <a:t>Return Results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F27431-509D-E682-4110-BD5AC140F69A}"/>
                </a:ext>
              </a:extLst>
            </p:cNvPr>
            <p:cNvSpPr/>
            <p:nvPr/>
          </p:nvSpPr>
          <p:spPr>
            <a:xfrm>
              <a:off x="5038513" y="4206640"/>
              <a:ext cx="709842" cy="378145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/>
                <a:t>Study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58FBC4F-9C0A-D4E0-472E-C4144EECBF4B}"/>
                </a:ext>
              </a:extLst>
            </p:cNvPr>
            <p:cNvSpPr/>
            <p:nvPr/>
          </p:nvSpPr>
          <p:spPr>
            <a:xfrm>
              <a:off x="6392127" y="4206640"/>
              <a:ext cx="1331879" cy="378145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/>
                <a:t>( Number of </a:t>
              </a:r>
              <a:r>
                <a:rPr lang="en-US" sz="900" b="1"/>
                <a:t>Trials</a:t>
              </a:r>
              <a:r>
                <a:rPr lang="en-US" sz="900"/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CA204A-9E38-D72B-3628-FFDF667FC058}"/>
                </a:ext>
              </a:extLst>
            </p:cNvPr>
            <p:cNvSpPr txBox="1"/>
            <p:nvPr/>
          </p:nvSpPr>
          <p:spPr>
            <a:xfrm>
              <a:off x="5066530" y="910597"/>
              <a:ext cx="26349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accent1"/>
                  </a:solidFill>
                </a:rPr>
                <a:t>What This All Looks Like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2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Optuna Features</a:t>
            </a:r>
            <a:endParaRPr/>
          </a:p>
        </p:txBody>
      </p:sp>
      <p:grpSp>
        <p:nvGrpSpPr>
          <p:cNvPr id="609" name="Google Shape;609;p62"/>
          <p:cNvGrpSpPr/>
          <p:nvPr/>
        </p:nvGrpSpPr>
        <p:grpSpPr>
          <a:xfrm>
            <a:off x="3400900" y="257263"/>
            <a:ext cx="543525" cy="265250"/>
            <a:chOff x="3195113" y="380063"/>
            <a:chExt cx="543525" cy="265250"/>
          </a:xfrm>
        </p:grpSpPr>
        <p:cxnSp>
          <p:nvCxnSpPr>
            <p:cNvPr id="610" name="Google Shape;610;p62"/>
            <p:cNvCxnSpPr/>
            <p:nvPr/>
          </p:nvCxnSpPr>
          <p:spPr>
            <a:xfrm rot="10800000" flipH="1">
              <a:off x="3195113" y="380063"/>
              <a:ext cx="208200" cy="1416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1" name="Google Shape;611;p62"/>
            <p:cNvCxnSpPr/>
            <p:nvPr/>
          </p:nvCxnSpPr>
          <p:spPr>
            <a:xfrm rot="10800000" flipH="1">
              <a:off x="3211238" y="435525"/>
              <a:ext cx="527400" cy="1452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2" name="Google Shape;612;p62"/>
            <p:cNvCxnSpPr/>
            <p:nvPr/>
          </p:nvCxnSpPr>
          <p:spPr>
            <a:xfrm rot="10800000" flipH="1">
              <a:off x="3232763" y="634513"/>
              <a:ext cx="258300" cy="108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13" name="Google Shape;613;p62"/>
          <p:cNvCxnSpPr/>
          <p:nvPr/>
        </p:nvCxnSpPr>
        <p:spPr>
          <a:xfrm>
            <a:off x="324287" y="1276625"/>
            <a:ext cx="780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4" name="Google Shape;614;p62"/>
          <p:cNvCxnSpPr/>
          <p:nvPr/>
        </p:nvCxnSpPr>
        <p:spPr>
          <a:xfrm>
            <a:off x="1238400" y="1284375"/>
            <a:ext cx="2424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5" name="Google Shape;615;p62"/>
          <p:cNvCxnSpPr/>
          <p:nvPr/>
        </p:nvCxnSpPr>
        <p:spPr>
          <a:xfrm>
            <a:off x="324287" y="1903088"/>
            <a:ext cx="780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62"/>
          <p:cNvCxnSpPr/>
          <p:nvPr/>
        </p:nvCxnSpPr>
        <p:spPr>
          <a:xfrm>
            <a:off x="1238400" y="1910838"/>
            <a:ext cx="2424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7" name="Google Shape;617;p62"/>
          <p:cNvCxnSpPr/>
          <p:nvPr/>
        </p:nvCxnSpPr>
        <p:spPr>
          <a:xfrm>
            <a:off x="324287" y="2979114"/>
            <a:ext cx="780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8" name="Google Shape;618;p62"/>
          <p:cNvCxnSpPr/>
          <p:nvPr/>
        </p:nvCxnSpPr>
        <p:spPr>
          <a:xfrm>
            <a:off x="1238400" y="2968547"/>
            <a:ext cx="2424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3FFBD3C-4BF2-83EC-CF08-2696C0AD5F49}"/>
              </a:ext>
            </a:extLst>
          </p:cNvPr>
          <p:cNvGrpSpPr/>
          <p:nvPr/>
        </p:nvGrpSpPr>
        <p:grpSpPr>
          <a:xfrm>
            <a:off x="2173200" y="4026250"/>
            <a:ext cx="6020700" cy="886200"/>
            <a:chOff x="2173200" y="4026250"/>
            <a:chExt cx="6020700" cy="886200"/>
          </a:xfrm>
        </p:grpSpPr>
        <p:sp>
          <p:nvSpPr>
            <p:cNvPr id="637" name="Google Shape;637;p62"/>
            <p:cNvSpPr/>
            <p:nvPr/>
          </p:nvSpPr>
          <p:spPr>
            <a:xfrm>
              <a:off x="2173200" y="4026250"/>
              <a:ext cx="6020700" cy="88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74300" tIns="91425" rIns="27430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38" name="Google Shape;638;p62"/>
            <p:cNvSpPr txBox="1"/>
            <p:nvPr/>
          </p:nvSpPr>
          <p:spPr>
            <a:xfrm>
              <a:off x="2435547" y="4174307"/>
              <a:ext cx="22722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Nunito Sans"/>
                  <a:ea typeface="Nunito Sans"/>
                  <a:cs typeface="Nunito Sans"/>
                  <a:sym typeface="Nunito Sans"/>
                </a:rPr>
                <a:t>vis.plot_intermediate_values()</a:t>
              </a:r>
              <a:endParaRPr sz="1200"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39" name="Google Shape;639;p62"/>
            <p:cNvSpPr txBox="1"/>
            <p:nvPr/>
          </p:nvSpPr>
          <p:spPr>
            <a:xfrm>
              <a:off x="2422727" y="4483786"/>
              <a:ext cx="22722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Nunito Sans"/>
                  <a:ea typeface="Nunito Sans"/>
                  <a:cs typeface="Nunito Sans"/>
                  <a:sym typeface="Nunito Sans"/>
                </a:rPr>
                <a:t>vis.plot_parallel_coordinate()</a:t>
              </a:r>
              <a:endParaRPr sz="1200"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40" name="Google Shape;640;p62"/>
            <p:cNvSpPr txBox="1"/>
            <p:nvPr/>
          </p:nvSpPr>
          <p:spPr>
            <a:xfrm>
              <a:off x="4774208" y="4481685"/>
              <a:ext cx="1562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Nunito Sans"/>
                  <a:ea typeface="Nunito Sans"/>
                  <a:cs typeface="Nunito Sans"/>
                  <a:sym typeface="Nunito Sans"/>
                </a:rPr>
                <a:t>vis.plot_contour()</a:t>
              </a:r>
              <a:endParaRPr sz="1200"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41" name="Google Shape;641;p62"/>
            <p:cNvSpPr txBox="1"/>
            <p:nvPr/>
          </p:nvSpPr>
          <p:spPr>
            <a:xfrm>
              <a:off x="4777370" y="4197538"/>
              <a:ext cx="1121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Nunito Sans"/>
                  <a:ea typeface="Nunito Sans"/>
                  <a:cs typeface="Nunito Sans"/>
                  <a:sym typeface="Nunito Sans"/>
                </a:rPr>
                <a:t>vis.plot_edf()</a:t>
              </a:r>
              <a:endParaRPr sz="1200"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42" name="Google Shape;642;p62"/>
            <p:cNvSpPr txBox="1"/>
            <p:nvPr/>
          </p:nvSpPr>
          <p:spPr>
            <a:xfrm>
              <a:off x="6378884" y="4509202"/>
              <a:ext cx="14508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Nunito Sans"/>
                  <a:ea typeface="Nunito Sans"/>
                  <a:cs typeface="Nunito Sans"/>
                  <a:sym typeface="Nunito Sans"/>
                </a:rPr>
                <a:t>vis.plot_timeline()</a:t>
              </a:r>
              <a:endParaRPr sz="1200"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43" name="Google Shape;643;p62"/>
            <p:cNvSpPr txBox="1"/>
            <p:nvPr/>
          </p:nvSpPr>
          <p:spPr>
            <a:xfrm>
              <a:off x="6372738" y="4216977"/>
              <a:ext cx="13398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Nunito Sans"/>
                  <a:ea typeface="Nunito Sans"/>
                  <a:cs typeface="Nunito Sans"/>
                  <a:sym typeface="Nunito Sans"/>
                </a:rPr>
                <a:t>vis.plot_rank()</a:t>
              </a:r>
              <a:endParaRPr sz="1200"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C7110F8-A171-FDB2-C8BE-DE5265F3E126}"/>
              </a:ext>
            </a:extLst>
          </p:cNvPr>
          <p:cNvSpPr txBox="1"/>
          <p:nvPr/>
        </p:nvSpPr>
        <p:spPr>
          <a:xfrm>
            <a:off x="228599" y="2035968"/>
            <a:ext cx="1009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accent1"/>
                </a:solidFill>
              </a:rPr>
              <a:t>As a Value in a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B3B40-AC79-5FC6-D0CC-91D0B9D86F7F}"/>
              </a:ext>
            </a:extLst>
          </p:cNvPr>
          <p:cNvSpPr txBox="1"/>
          <p:nvPr/>
        </p:nvSpPr>
        <p:spPr>
          <a:xfrm>
            <a:off x="237584" y="3085668"/>
            <a:ext cx="1170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accent1"/>
                </a:solidFill>
              </a:rPr>
              <a:t>As a Values Within a Range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E28A1-2B76-A6C3-E976-A1CA0B49B61F}"/>
              </a:ext>
            </a:extLst>
          </p:cNvPr>
          <p:cNvSpPr txBox="1"/>
          <p:nvPr/>
        </p:nvSpPr>
        <p:spPr>
          <a:xfrm>
            <a:off x="228600" y="1316294"/>
            <a:ext cx="1009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accent1"/>
                </a:solidFill>
              </a:rPr>
              <a:t>As a Fixed Value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F67130-0C41-12C2-CC56-7BBD7C412E34}"/>
              </a:ext>
            </a:extLst>
          </p:cNvPr>
          <p:cNvSpPr txBox="1"/>
          <p:nvPr/>
        </p:nvSpPr>
        <p:spPr>
          <a:xfrm>
            <a:off x="1186600" y="1321554"/>
            <a:ext cx="2381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>
                <a:solidFill>
                  <a:schemeClr val="tx1"/>
                </a:solidFill>
              </a:rPr>
              <a:t>n_layers =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BEB32F-D120-E404-C0C1-009639E5F65F}"/>
              </a:ext>
            </a:extLst>
          </p:cNvPr>
          <p:cNvSpPr txBox="1"/>
          <p:nvPr/>
        </p:nvSpPr>
        <p:spPr>
          <a:xfrm>
            <a:off x="1181161" y="2017992"/>
            <a:ext cx="238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>
                <a:solidFill>
                  <a:schemeClr val="tx1"/>
                </a:solidFill>
              </a:rPr>
              <a:t>n_layers =  </a:t>
            </a:r>
          </a:p>
          <a:p>
            <a:pPr lvl="0"/>
            <a:r>
              <a:rPr lang="en-US" sz="1200">
                <a:solidFill>
                  <a:schemeClr val="tx1"/>
                </a:solidFill>
              </a:rPr>
              <a:t>     trail.suggest_categorical(  </a:t>
            </a:r>
          </a:p>
          <a:p>
            <a:pPr lvl="0"/>
            <a:r>
              <a:rPr lang="en-US" sz="1200">
                <a:solidFill>
                  <a:schemeClr val="tx1"/>
                </a:solidFill>
              </a:rPr>
              <a:t>     ‘n_layers, [1,2,3]</a:t>
            </a:r>
          </a:p>
          <a:p>
            <a:pPr lvl="0"/>
            <a:r>
              <a:rPr lang="en-US" sz="1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079156-CAD8-BAAD-C54A-3F0C89DDF62D}"/>
              </a:ext>
            </a:extLst>
          </p:cNvPr>
          <p:cNvSpPr txBox="1"/>
          <p:nvPr/>
        </p:nvSpPr>
        <p:spPr>
          <a:xfrm>
            <a:off x="1218031" y="3101699"/>
            <a:ext cx="238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>
                <a:solidFill>
                  <a:schemeClr val="tx1"/>
                </a:solidFill>
              </a:rPr>
              <a:t>n_layers = trail.suggest_int( </a:t>
            </a:r>
          </a:p>
          <a:p>
            <a:pPr lvl="0"/>
            <a:r>
              <a:rPr lang="en-US" sz="1200">
                <a:solidFill>
                  <a:schemeClr val="tx1"/>
                </a:solidFill>
              </a:rPr>
              <a:t>     ‘n_layers, 1,5</a:t>
            </a:r>
          </a:p>
          <a:p>
            <a:pPr lvl="0"/>
            <a:r>
              <a:rPr lang="en-US" sz="1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83C2B3-D3A2-A502-6BA5-2135BC0F707E}"/>
              </a:ext>
            </a:extLst>
          </p:cNvPr>
          <p:cNvSpPr/>
          <p:nvPr/>
        </p:nvSpPr>
        <p:spPr>
          <a:xfrm>
            <a:off x="268895" y="850263"/>
            <a:ext cx="3561736" cy="32844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Setting Your Hyper Parameters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15C89CB-E669-2DC7-722B-B85518FC95AB}"/>
              </a:ext>
            </a:extLst>
          </p:cNvPr>
          <p:cNvGrpSpPr/>
          <p:nvPr/>
        </p:nvGrpSpPr>
        <p:grpSpPr>
          <a:xfrm>
            <a:off x="4024251" y="850803"/>
            <a:ext cx="5000628" cy="2623579"/>
            <a:chOff x="4024251" y="850803"/>
            <a:chExt cx="5000628" cy="2623579"/>
          </a:xfrm>
        </p:grpSpPr>
        <p:cxnSp>
          <p:nvCxnSpPr>
            <p:cNvPr id="628" name="Google Shape;628;p62"/>
            <p:cNvCxnSpPr/>
            <p:nvPr/>
          </p:nvCxnSpPr>
          <p:spPr>
            <a:xfrm>
              <a:off x="4117835" y="1273326"/>
              <a:ext cx="1121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62"/>
            <p:cNvCxnSpPr/>
            <p:nvPr/>
          </p:nvCxnSpPr>
          <p:spPr>
            <a:xfrm>
              <a:off x="5431251" y="1281076"/>
              <a:ext cx="3484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0" name="Google Shape;630;p62"/>
            <p:cNvCxnSpPr/>
            <p:nvPr/>
          </p:nvCxnSpPr>
          <p:spPr>
            <a:xfrm>
              <a:off x="4117835" y="1899790"/>
              <a:ext cx="1121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1" name="Google Shape;631;p62"/>
            <p:cNvCxnSpPr/>
            <p:nvPr/>
          </p:nvCxnSpPr>
          <p:spPr>
            <a:xfrm>
              <a:off x="5431251" y="1907540"/>
              <a:ext cx="3484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Google Shape;632;p62"/>
            <p:cNvCxnSpPr/>
            <p:nvPr/>
          </p:nvCxnSpPr>
          <p:spPr>
            <a:xfrm>
              <a:off x="4117835" y="2572838"/>
              <a:ext cx="1121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" name="Google Shape;633;p62"/>
            <p:cNvCxnSpPr/>
            <p:nvPr/>
          </p:nvCxnSpPr>
          <p:spPr>
            <a:xfrm>
              <a:off x="5431251" y="2580588"/>
              <a:ext cx="3484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A11314-9665-1765-D2E0-DC2D90B700BA}"/>
                </a:ext>
              </a:extLst>
            </p:cNvPr>
            <p:cNvSpPr txBox="1"/>
            <p:nvPr/>
          </p:nvSpPr>
          <p:spPr>
            <a:xfrm>
              <a:off x="4024251" y="1285715"/>
              <a:ext cx="145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Optimization History Plot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28BCE1-26D9-BAA6-37AA-8575A1D5ACB4}"/>
                </a:ext>
              </a:extLst>
            </p:cNvPr>
            <p:cNvSpPr txBox="1"/>
            <p:nvPr/>
          </p:nvSpPr>
          <p:spPr>
            <a:xfrm>
              <a:off x="4024251" y="1985009"/>
              <a:ext cx="145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Hyperparameter Importance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3C19F0-71EB-3D49-D479-D16630E5C20B}"/>
                </a:ext>
              </a:extLst>
            </p:cNvPr>
            <p:cNvSpPr txBox="1"/>
            <p:nvPr/>
          </p:nvSpPr>
          <p:spPr>
            <a:xfrm>
              <a:off x="4048808" y="2635928"/>
              <a:ext cx="1450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Slice Plot(s)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175C1DF-5602-3FFD-A6AF-8349B1815FEF}"/>
                </a:ext>
              </a:extLst>
            </p:cNvPr>
            <p:cNvSpPr txBox="1"/>
            <p:nvPr/>
          </p:nvSpPr>
          <p:spPr>
            <a:xfrm>
              <a:off x="5409129" y="1391362"/>
              <a:ext cx="3615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200">
                  <a:solidFill>
                    <a:schemeClr val="tx1"/>
                  </a:solidFill>
                </a:rPr>
                <a:t>vis.plot_optimization_history(study)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138437E-0995-415A-5CC0-7687226ED255}"/>
                </a:ext>
              </a:extLst>
            </p:cNvPr>
            <p:cNvSpPr txBox="1"/>
            <p:nvPr/>
          </p:nvSpPr>
          <p:spPr>
            <a:xfrm>
              <a:off x="5409128" y="1969313"/>
              <a:ext cx="34841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200">
                  <a:solidFill>
                    <a:schemeClr val="tx1"/>
                  </a:solidFill>
                </a:rPr>
                <a:t>vis.plot_param_importance(study)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A31E08-820A-3567-DABD-B3F5EDAF5B3A}"/>
                </a:ext>
              </a:extLst>
            </p:cNvPr>
            <p:cNvSpPr txBox="1"/>
            <p:nvPr/>
          </p:nvSpPr>
          <p:spPr>
            <a:xfrm>
              <a:off x="5375681" y="2637110"/>
              <a:ext cx="35618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200">
                  <a:solidFill>
                    <a:schemeClr val="tx1"/>
                  </a:solidFill>
                </a:rPr>
                <a:t>vis.plot_slice(study, params = [‘n_extimators’, …])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A83CFE6-93EF-4527-977E-61E35E2E2EEF}"/>
                </a:ext>
              </a:extLst>
            </p:cNvPr>
            <p:cNvSpPr/>
            <p:nvPr/>
          </p:nvSpPr>
          <p:spPr>
            <a:xfrm>
              <a:off x="4048808" y="850803"/>
              <a:ext cx="4888762" cy="32844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Some of the Build in Visualizations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EF83BB1C-4D6B-8FF0-0252-78EF2B6B5223}"/>
                </a:ext>
              </a:extLst>
            </p:cNvPr>
            <p:cNvSpPr/>
            <p:nvPr/>
          </p:nvSpPr>
          <p:spPr>
            <a:xfrm>
              <a:off x="4058855" y="3145933"/>
              <a:ext cx="4966024" cy="32844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sz="1200" b="1">
                  <a:solidFill>
                    <a:schemeClr val="dk2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Import: </a:t>
              </a:r>
              <a:r>
                <a:rPr lang="en-US" sz="1200">
                  <a:solidFill>
                    <a:srgbClr val="07419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-US" sz="1200">
                  <a:solidFill>
                    <a:srgbClr val="33405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optuna.visualization </a:t>
              </a:r>
              <a:r>
                <a:rPr lang="en-US" sz="1200">
                  <a:solidFill>
                    <a:srgbClr val="07419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as</a:t>
              </a:r>
              <a:r>
                <a:rPr lang="en-US" sz="1200">
                  <a:solidFill>
                    <a:srgbClr val="33405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vis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0021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Results</a:t>
            </a:r>
            <a:endParaRPr/>
          </a:p>
        </p:txBody>
      </p:sp>
      <p:cxnSp>
        <p:nvCxnSpPr>
          <p:cNvPr id="649" name="Google Shape;649;p63"/>
          <p:cNvCxnSpPr/>
          <p:nvPr/>
        </p:nvCxnSpPr>
        <p:spPr>
          <a:xfrm flipH="1">
            <a:off x="2465525" y="1047750"/>
            <a:ext cx="18300" cy="33063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63"/>
          <p:cNvCxnSpPr/>
          <p:nvPr/>
        </p:nvCxnSpPr>
        <p:spPr>
          <a:xfrm rot="10800000" flipH="1">
            <a:off x="439488" y="2540600"/>
            <a:ext cx="6825300" cy="39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63"/>
          <p:cNvSpPr/>
          <p:nvPr/>
        </p:nvSpPr>
        <p:spPr>
          <a:xfrm>
            <a:off x="341036" y="940258"/>
            <a:ext cx="1875600" cy="2415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Grid Search</a:t>
            </a:r>
            <a:endParaRPr sz="8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652" name="Google Shape;652;p63"/>
          <p:cNvGrpSpPr/>
          <p:nvPr/>
        </p:nvGrpSpPr>
        <p:grpSpPr>
          <a:xfrm>
            <a:off x="327717" y="1506358"/>
            <a:ext cx="1794040" cy="766500"/>
            <a:chOff x="4605588" y="1015125"/>
            <a:chExt cx="1799800" cy="766500"/>
          </a:xfrm>
        </p:grpSpPr>
        <p:sp>
          <p:nvSpPr>
            <p:cNvPr id="653" name="Google Shape;653;p63"/>
            <p:cNvSpPr/>
            <p:nvPr/>
          </p:nvSpPr>
          <p:spPr>
            <a:xfrm>
              <a:off x="4605588" y="1015125"/>
              <a:ext cx="308100" cy="30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54" name="Google Shape;654;p63"/>
            <p:cNvSpPr txBox="1"/>
            <p:nvPr/>
          </p:nvSpPr>
          <p:spPr>
            <a:xfrm>
              <a:off x="5004087" y="10460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Score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1.172322</a:t>
              </a:r>
              <a:endParaRPr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55" name="Google Shape;655;p63"/>
            <p:cNvSpPr/>
            <p:nvPr/>
          </p:nvSpPr>
          <p:spPr>
            <a:xfrm>
              <a:off x="4605588" y="1473525"/>
              <a:ext cx="308100" cy="30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56" name="Google Shape;656;p63"/>
            <p:cNvSpPr txBox="1"/>
            <p:nvPr/>
          </p:nvSpPr>
          <p:spPr>
            <a:xfrm>
              <a:off x="5004087" y="15044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Tuning Time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81.88 minutes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657" name="Google Shape;657;p63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658" name="Google Shape;658;p63" title="—Pngtree—vector clock icon vector_41527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96" y="1996536"/>
            <a:ext cx="241495" cy="24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63" title="score-icon-3858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60" y="1542490"/>
            <a:ext cx="228973" cy="228973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63"/>
          <p:cNvSpPr/>
          <p:nvPr/>
        </p:nvSpPr>
        <p:spPr>
          <a:xfrm>
            <a:off x="341732" y="2624150"/>
            <a:ext cx="1875600" cy="2415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Random Search: 200 Trials</a:t>
            </a:r>
            <a:endParaRPr sz="8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661" name="Google Shape;661;p63"/>
          <p:cNvGrpSpPr/>
          <p:nvPr/>
        </p:nvGrpSpPr>
        <p:grpSpPr>
          <a:xfrm>
            <a:off x="328412" y="3190250"/>
            <a:ext cx="1794040" cy="766500"/>
            <a:chOff x="4605588" y="1015125"/>
            <a:chExt cx="1799800" cy="766500"/>
          </a:xfrm>
        </p:grpSpPr>
        <p:sp>
          <p:nvSpPr>
            <p:cNvPr id="662" name="Google Shape;662;p63"/>
            <p:cNvSpPr/>
            <p:nvPr/>
          </p:nvSpPr>
          <p:spPr>
            <a:xfrm>
              <a:off x="4605588" y="1015125"/>
              <a:ext cx="308100" cy="30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63" name="Google Shape;663;p63"/>
            <p:cNvSpPr txBox="1"/>
            <p:nvPr/>
          </p:nvSpPr>
          <p:spPr>
            <a:xfrm>
              <a:off x="5004087" y="10460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Score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1.172177</a:t>
              </a:r>
              <a:endParaRPr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64" name="Google Shape;664;p63"/>
            <p:cNvSpPr/>
            <p:nvPr/>
          </p:nvSpPr>
          <p:spPr>
            <a:xfrm>
              <a:off x="4605588" y="1473525"/>
              <a:ext cx="308100" cy="30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65" name="Google Shape;665;p63"/>
            <p:cNvSpPr txBox="1"/>
            <p:nvPr/>
          </p:nvSpPr>
          <p:spPr>
            <a:xfrm>
              <a:off x="5004087" y="15044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Tuning Time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14.14 minutes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pic>
        <p:nvPicPr>
          <p:cNvPr id="666" name="Google Shape;666;p63" title="—Pngtree—vector clock icon vector_41527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92" y="3680428"/>
            <a:ext cx="241495" cy="24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63" title="score-icon-3858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56" y="3226381"/>
            <a:ext cx="228973" cy="228973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3"/>
          <p:cNvSpPr/>
          <p:nvPr/>
        </p:nvSpPr>
        <p:spPr>
          <a:xfrm>
            <a:off x="2740802" y="2624846"/>
            <a:ext cx="1875600" cy="2415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Optuna XGBoost GPU</a:t>
            </a:r>
            <a:endParaRPr sz="8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669" name="Google Shape;669;p63"/>
          <p:cNvGrpSpPr/>
          <p:nvPr/>
        </p:nvGrpSpPr>
        <p:grpSpPr>
          <a:xfrm>
            <a:off x="2727482" y="3190946"/>
            <a:ext cx="1794040" cy="766500"/>
            <a:chOff x="4605588" y="1015125"/>
            <a:chExt cx="1799800" cy="766500"/>
          </a:xfrm>
        </p:grpSpPr>
        <p:sp>
          <p:nvSpPr>
            <p:cNvPr id="670" name="Google Shape;670;p63"/>
            <p:cNvSpPr/>
            <p:nvPr/>
          </p:nvSpPr>
          <p:spPr>
            <a:xfrm>
              <a:off x="4605588" y="1015125"/>
              <a:ext cx="308100" cy="30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71" name="Google Shape;671;p63"/>
            <p:cNvSpPr txBox="1"/>
            <p:nvPr/>
          </p:nvSpPr>
          <p:spPr>
            <a:xfrm>
              <a:off x="5004087" y="10460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Score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1.171112</a:t>
              </a:r>
              <a:endParaRPr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72" name="Google Shape;672;p63"/>
            <p:cNvSpPr/>
            <p:nvPr/>
          </p:nvSpPr>
          <p:spPr>
            <a:xfrm>
              <a:off x="4605588" y="1473525"/>
              <a:ext cx="308100" cy="30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73" name="Google Shape;673;p63"/>
            <p:cNvSpPr txBox="1"/>
            <p:nvPr/>
          </p:nvSpPr>
          <p:spPr>
            <a:xfrm>
              <a:off x="5004087" y="15044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Tuning Time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4.95 minutes.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pic>
        <p:nvPicPr>
          <p:cNvPr id="674" name="Google Shape;674;p63" title="—Pngtree—vector clock icon vector_41527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461" y="3681124"/>
            <a:ext cx="241495" cy="24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3" title="score-icon-3858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725" y="3227077"/>
            <a:ext cx="228973" cy="228973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3"/>
          <p:cNvSpPr/>
          <p:nvPr/>
        </p:nvSpPr>
        <p:spPr>
          <a:xfrm>
            <a:off x="2741497" y="949569"/>
            <a:ext cx="1875600" cy="2415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Optuna XGBoost: 100 Trials</a:t>
            </a:r>
            <a:endParaRPr sz="8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677" name="Google Shape;677;p63"/>
          <p:cNvGrpSpPr/>
          <p:nvPr/>
        </p:nvGrpSpPr>
        <p:grpSpPr>
          <a:xfrm>
            <a:off x="2728177" y="1515669"/>
            <a:ext cx="1794040" cy="766500"/>
            <a:chOff x="4605588" y="1015125"/>
            <a:chExt cx="1799800" cy="766500"/>
          </a:xfrm>
        </p:grpSpPr>
        <p:sp>
          <p:nvSpPr>
            <p:cNvPr id="678" name="Google Shape;678;p63"/>
            <p:cNvSpPr/>
            <p:nvPr/>
          </p:nvSpPr>
          <p:spPr>
            <a:xfrm>
              <a:off x="4605588" y="1015125"/>
              <a:ext cx="308100" cy="30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79" name="Google Shape;679;p63"/>
            <p:cNvSpPr txBox="1"/>
            <p:nvPr/>
          </p:nvSpPr>
          <p:spPr>
            <a:xfrm>
              <a:off x="5004087" y="10460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Score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1.172373</a:t>
              </a:r>
              <a:endParaRPr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80" name="Google Shape;680;p63"/>
            <p:cNvSpPr/>
            <p:nvPr/>
          </p:nvSpPr>
          <p:spPr>
            <a:xfrm>
              <a:off x="4605588" y="1473525"/>
              <a:ext cx="308100" cy="30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81" name="Google Shape;681;p63"/>
            <p:cNvSpPr txBox="1"/>
            <p:nvPr/>
          </p:nvSpPr>
          <p:spPr>
            <a:xfrm>
              <a:off x="5004087" y="15044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Tuning Time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3.92 minutes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pic>
        <p:nvPicPr>
          <p:cNvPr id="682" name="Google Shape;682;p63" title="—Pngtree—vector clock icon vector_41527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157" y="2013071"/>
            <a:ext cx="241495" cy="24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63" title="score-icon-3858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9421" y="1559025"/>
            <a:ext cx="228973" cy="228973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3"/>
          <p:cNvSpPr/>
          <p:nvPr/>
        </p:nvSpPr>
        <p:spPr>
          <a:xfrm>
            <a:off x="4873278" y="943041"/>
            <a:ext cx="1875600" cy="2415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Optuna Neural Network: 30 Trials</a:t>
            </a:r>
            <a:endParaRPr sz="8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685" name="Google Shape;685;p63"/>
          <p:cNvGrpSpPr/>
          <p:nvPr/>
        </p:nvGrpSpPr>
        <p:grpSpPr>
          <a:xfrm>
            <a:off x="4859958" y="1509141"/>
            <a:ext cx="1794040" cy="766500"/>
            <a:chOff x="4605588" y="1015125"/>
            <a:chExt cx="1799800" cy="766500"/>
          </a:xfrm>
        </p:grpSpPr>
        <p:sp>
          <p:nvSpPr>
            <p:cNvPr id="686" name="Google Shape;686;p63"/>
            <p:cNvSpPr/>
            <p:nvPr/>
          </p:nvSpPr>
          <p:spPr>
            <a:xfrm>
              <a:off x="4605588" y="1015125"/>
              <a:ext cx="308100" cy="30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87" name="Google Shape;687;p63"/>
            <p:cNvSpPr txBox="1"/>
            <p:nvPr/>
          </p:nvSpPr>
          <p:spPr>
            <a:xfrm>
              <a:off x="5004087" y="10460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Score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1.192162</a:t>
              </a:r>
              <a:endParaRPr sz="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88" name="Google Shape;688;p63"/>
            <p:cNvSpPr/>
            <p:nvPr/>
          </p:nvSpPr>
          <p:spPr>
            <a:xfrm>
              <a:off x="4605588" y="1473525"/>
              <a:ext cx="308100" cy="30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89" name="Google Shape;689;p63"/>
            <p:cNvSpPr txBox="1"/>
            <p:nvPr/>
          </p:nvSpPr>
          <p:spPr>
            <a:xfrm>
              <a:off x="5004087" y="1504425"/>
              <a:ext cx="140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Tuning Time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28.38 minutes</a:t>
              </a:r>
              <a:endParaRPr sz="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pic>
        <p:nvPicPr>
          <p:cNvPr id="690" name="Google Shape;690;p63" title="—Pngtree—vector clock icon vector_41527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4938" y="1999319"/>
            <a:ext cx="241495" cy="24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63" title="score-icon-3858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1202" y="1545272"/>
            <a:ext cx="228973" cy="2289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2" name="Google Shape;692;p63"/>
          <p:cNvCxnSpPr/>
          <p:nvPr/>
        </p:nvCxnSpPr>
        <p:spPr>
          <a:xfrm>
            <a:off x="4752667" y="1056773"/>
            <a:ext cx="20700" cy="3434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On-screen Show (16:9)</PresentationFormat>
  <Paragraphs>170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Poppins SemiBold</vt:lpstr>
      <vt:lpstr>Roboto Mono</vt:lpstr>
      <vt:lpstr>Nunito Sans</vt:lpstr>
      <vt:lpstr>Arial</vt:lpstr>
      <vt:lpstr>Poppins Medium</vt:lpstr>
      <vt:lpstr>Poppins</vt:lpstr>
      <vt:lpstr>Nunito Sans SemiBold</vt:lpstr>
      <vt:lpstr>Simple Light</vt:lpstr>
      <vt:lpstr>Marketing Plan Presentation [Style 1]</vt:lpstr>
      <vt:lpstr>Optuna</vt:lpstr>
      <vt:lpstr>How Do We Build Models Again?</vt:lpstr>
      <vt:lpstr>Grid &amp; Random Search </vt:lpstr>
      <vt:lpstr>What Is Optuna?</vt:lpstr>
      <vt:lpstr>Optuna Structure</vt:lpstr>
      <vt:lpstr>Optuna Features</vt:lpstr>
      <vt:lpstr>Summary of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Nelson</dc:creator>
  <cp:lastModifiedBy>David Nelson</cp:lastModifiedBy>
  <cp:revision>1</cp:revision>
  <dcterms:modified xsi:type="dcterms:W3CDTF">2026-04-29T18:59:49Z</dcterms:modified>
</cp:coreProperties>
</file>